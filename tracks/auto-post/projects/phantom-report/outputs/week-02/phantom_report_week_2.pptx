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6"/>
    <p:sldId id="265" r:id="rId5"/>
    <p:sldId id="266" r:id="rId4"/>
    <p:sldId id="267" r:id="rId3"/>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2주차 발표 시작하겠습니다. 지난주에는 첫 포스트인 FILE 01을 손으로 만들고 파이프라인을 짰습니다. 이번 주에는 그 결과물을 놓고 표지부터 마지막 장까지 다시 손봤습니다. 오늘은 바뀐 부분을 한 장에 하나씩, 1주차와 2주차 결과물을 나란히 놓고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다룰 순서입니다. 바뀐 것은 모두 여덟 가지입니다. 포인트 컬러, 표지, 글꼴, 사건 장 구성, 출처 줄, 문체, 이미지, 마지막 장 순서로 1주차와 2주차 결과물을 나란히 놓고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전체를 비교하겠습니다. 위가 1주차 FILE 01, 아래가 2주차 FILE 02입니다. 사건은 둘 다 5건인데 장 수는 8장에서 7장으로 줄었습니다. 목차 장이 빠졌기 때문입니다. 지난주 발표에서 다음 주 과제로 글자 배치, 글자체, 전체 디자인, 이미지 네 가지를 꼽았는데, 오늘 보여 드릴 수정이 모두 그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번째는 포인트 컬러입니다. 디자인을 손보기 전에 기준 색부터 정했습니다. 시안 몇 가지를 놓고 레드로 골랐는데, 템플릿에서 이미 쓰던 #c8352b라 결과물 색이 달라지지는 않았습니다. 대신 README에 기준 색으로 적어 두고, 슬라이드 템플릿의 --red와 이미지 생성 프롬프트의 ‘deep red accent’를 바꿀 때는 꼭 함께 바꾸라고 했습니다. 진행 막대, CASE 번호, 이미지 속 포인트가 모두 이 색입니다.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표지입니다. 1주차 표지는 3번 사건의 헤드라인을 크게 걸었습니다. 그러다 보니 표지만 보면 사건이 하나뿐인 것처럼 보였고, 목차는 다음 장에 따로 있었습니다. 2주차에는 표지를 증거 보드로 바꿨습니다. 그 주 사건 이미지를 위에 세 장, 아래에 두 장 붙이고, 사진마다 번호와 분류 캡션을 달았습니다. 가운데 라벨에는 기간, 몇 월 몇 주차, 사건 건수를 넣었습니다. 캡션이 목차 역할을 하므로 목차 장은 뺐습니다. 여기까지 오는 데 시안을 7라운드 돌렸습니다. 아래쪽 사건 장부 띠, 서류철 탭, 날짜형 표지, 서류봉투 여는 표지까지 띄워 보고 증거 보드로 정했습니다. 좌상단에는 WEEKLY REPORT – AI ISSUE를 넣고, 우상단 FILE 번호와 SWIPE 표시는 뺐습니다. 주차는 발행일인 토요일이 속한 달을 기준으로 셉니다. 사건 수는 주마다 다르기 때문에 사진은 건수에 맞춰 자동으로 배치되게 했고, 3건에서 8건까지 렌더링해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글꼴입니다. 1주차에는 기밀 문서 느낌을 내려고 나눔고딕코딩과 Special Elite 타자기 글꼴을 썼습니다. 막상 결과물을 보니 고정폭이라 한글 제목의 글자 사이가 벌어지고 싸 보였습니다. 그래서 표지 제목은 Noto Serif KR, 사건 장은 Noto Sans KR로 바꿨습니다. 둘 다 구글 폰트라 라이선스 걱정이 없습니다. 시안을 네 가지 띄워 놓고 비교해서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번째는 사건 장 구성입니다. 1주차는 모든 사건 장이 이미지 위, 글 아래로 똑같았습니다. 인스타에서 넘기다 보면 지금 몇 번째 사건인지도 알 수 없었습니다. 그래서 맨 위에 사건 수만큼 칸이 있는 진행 막대를 달았고, 지금 보는 사건 칸이 레드로 찹니다. 처음엔 15px 정도였는데 인스타 진행 바처럼 6px로 얇게 줄였습니다. 이미지는 홀수 번째 사건에서 위, 짝수 번째에서 아래에 둡니다. 대신 CASE 번호와 국가, 날짜는 어느 장에서나 위 가운데에 고정했습니다. 1주차 이미지 아래에 붙어 있던 빨간 EXHIBIT 분류 태그는 그림을 따라 움직이게도, 좌상단이나 footer로도 옮겨 봤는데 어색해서 결국 없앴습니다.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번째는 출처 줄과 행동 줄입니다. 1주차 사건 장 아래에는 SRC 출처 줄과, 화살표로 시작하는 행동 팁이 한 줄씩 있었습니다. 둘이 자리를 차지하니 정작 사건 설명은 한 문장밖에 못 썼습니다. 그래서 둘 다 슬라이드에서 뺐습니다. 출처는 캡션으로 옮기고, 보도나 전재 기사 말고 1차 출처 원본 링크만 적습니다. 행동 팁은 아예 쓰지 않기로 했습니다. 그만큼 본문을 두세 문장 더 쓸 수 있게 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번째는 문체입니다. 왼쪽이 1주차처럼 ‘~했다’로 끝나는 보고서체이고, 오른쪽이 바꾼 해요체입니다. 같은 사건을 보고서체, 해요체, 헤드라인과 요점, 이렇게 세 가지로 써 보고 해요체를 골랐습니다. 그런데 해요체로 쓰니 끝맺음이 AI 같았습니다. humanize-korean으로 진단해 보니 본문 17문장 중 11문장이 ‘-었어요’나 ‘-이에요’로 끝났고, ‘~까지요’ 같은 꼬리가 세 개, ‘아직 ~’으로 끝나는 장이 세 장 있었습니다. 이 결과를 writer 규칙으로 옮기고 원고 단계에 윤문을 넣었습니다. 윤문 후 꼬리는 0개, ‘아직’ 마감은 1곳이 남았고, 바뀐 분량은 10% 정도입니다. 다만 혐의, 주장, 조사 중 같은 유보 표현은 지우지 않게 했습니다. 유죄가 확정된 것처럼 읽히면 안 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번째는 이미지입니다. 1주차는 모든 장의 이미지를 생성했습니다. 그러다 보니 로봇이나 거미 같은 은유가 들어가서 사건과 동떨어진 그림이 나오곤 했습니다. 그래서 1차 출처 페이지에 쓸 만한 사진이 있으면 그걸 먼저 쓰고, 없을 때만 생성하도록 바꿨습니다. 보도 사진은 저작권 때문에 못 쓰니까 퍼블릭 도메인, 공공누리 1유형, CC, 보도용 미디어 키트, 1차 문서 화면 캡처로 범위를 정했습니다. FILE 02에서는 7번 사건의 소장 첫 페이지와, 여기 보이는 9번 사건의 덴마크 검찰 보도자료 화면이 실제 이미지입니다. 나머지 장은 생성했고 오른쪽 아래에 AI 생성 이미지라고 표시했습니다. 다만 10번 사건은 새 이미지 생성이 두 번 다 시간 초과로 실패해서, 피하기로 한 거미 이미지가 임시로 들어가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번째는 마지막 장입니다. 1주차 마지막 장에는 사건 건수와 ‘저장하고 공유하세요’라는 문구만 있었습니다. 끝까지 본 사람에게 다음에 할 일을 주지 못했습니다. 그래서 팔로우 장으로 바꿨습니다. 팬텀 마스코트로 프로필 카드를 만들고 팔로우 버튼을 달았고, 아래 폰 화면 속 프로필에는 그 주 사건 이미지가 들어갑니다. 이 틀은 매주 그대로 쓰고 이미지만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여기까지입니다. 질문이나 의견 있으시면 편하게 말씀해 주세요.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lide-background-4-image-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Slide-background-5-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6130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464270"/>
            <a:ext cx="10566400" cy="585192"/>
          </a:xfrm>
          <a:prstGeom prst="rect">
            <a:avLst/>
          </a:prstGeom>
          <a:noFill/>
          <a:ln/>
        </p:spPr>
        <p:txBody>
          <a:bodyPr wrap="square" lIns="0" tIns="0" rIns="0" bIns="0" rtlCol="0" anchor="t"/>
          <a:lstStyle>
            <a:lvl1pPr algn="l" indent="0" marL="0">
              <a:lnSpc>
                <a:spcPct val="115000"/>
              </a:lnSpc>
              <a:buNone/>
              <a:defRPr lang="en-US" sz="3600" dirty="0">
                <a:solidFill>
                  <a:srgbClr val="E9E1CF"/>
                </a:solidFill>
                <a:latin typeface="Nanum Gothic Coding" pitchFamily="34" charset="0"/>
                <a:ea typeface="Nanum Gothic Coding" pitchFamily="34" charset="-122"/>
                <a:cs typeface="Nanum Gothic Coding"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54263"/>
            <a:ext cx="10566400" cy="3690937"/>
          </a:xfrm>
          <a:prstGeom prst="rect">
            <a:avLst/>
          </a:prstGeom>
          <a:noFill/>
          <a:ln/>
        </p:spPr>
        <p:txBody>
          <a:bodyPr wrap="square" lIns="0" tIns="0" rIns="0" bIns="0" rtlCol="0" anchor="t"/>
          <a:lstStyle>
            <a:lvl1pPr algn="l" indent="0" marL="0">
              <a:lnSpc>
                <a:spcPct val="140000"/>
              </a:lnSpc>
              <a:buNone/>
              <a:defRPr lang="en-US" sz="1600" dirty="0">
                <a:solidFill>
                  <a:srgbClr val="E9E1CF"/>
                </a:solidFill>
                <a:latin typeface="Special Elite" pitchFamily="34" charset="0"/>
                <a:ea typeface="Special Elite" pitchFamily="34" charset="-122"/>
                <a:cs typeface="Special Elit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464270"/>
            <a:ext cx="10566400" cy="585192"/>
          </a:xfrm>
          <a:prstGeom prst="rect">
            <a:avLst/>
          </a:prstGeom>
          <a:noFill/>
          <a:ln/>
        </p:spPr>
        <p:txBody>
          <a:bodyPr wrap="square" lIns="0" tIns="0" rIns="0" bIns="0" rtlCol="0" anchor="t"/>
          <a:lstStyle>
            <a:lvl1pPr algn="l" indent="0" marL="0">
              <a:lnSpc>
                <a:spcPct val="115000"/>
              </a:lnSpc>
              <a:buNone/>
              <a:defRPr lang="en-US" sz="3600" dirty="0">
                <a:solidFill>
                  <a:srgbClr val="E9E1CF"/>
                </a:solidFill>
                <a:latin typeface="Nanum Gothic Coding" pitchFamily="34" charset="0"/>
                <a:ea typeface="Nanum Gothic Coding" pitchFamily="34" charset="-122"/>
                <a:cs typeface="Nanum Gothic Coding"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54263"/>
            <a:ext cx="10566400" cy="3690937"/>
          </a:xfrm>
          <a:prstGeom prst="rect">
            <a:avLst/>
          </a:prstGeom>
          <a:noFill/>
          <a:ln/>
        </p:spPr>
        <p:txBody>
          <a:bodyPr wrap="square" lIns="0" tIns="0" rIns="0" bIns="0" rtlCol="0" anchor="t"/>
          <a:lstStyle>
            <a:lvl1pPr algn="l" indent="0" marL="0">
              <a:lnSpc>
                <a:spcPct val="140000"/>
              </a:lnSpc>
              <a:buNone/>
              <a:defRPr lang="en-US" sz="1600" dirty="0">
                <a:solidFill>
                  <a:srgbClr val="E9E1CF"/>
                </a:solidFill>
                <a:latin typeface="Special Elite" pitchFamily="34" charset="0"/>
                <a:ea typeface="Special Elite" pitchFamily="34" charset="-122"/>
                <a:cs typeface="Special Elit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464270"/>
            <a:ext cx="10566400" cy="585192"/>
          </a:xfrm>
          <a:prstGeom prst="rect">
            <a:avLst/>
          </a:prstGeom>
          <a:noFill/>
          <a:ln/>
        </p:spPr>
        <p:txBody>
          <a:bodyPr wrap="square" lIns="0" tIns="0" rIns="0" bIns="0" rtlCol="0" anchor="t"/>
          <a:lstStyle>
            <a:lvl1pPr algn="l" indent="0" marL="0">
              <a:lnSpc>
                <a:spcPct val="115000"/>
              </a:lnSpc>
              <a:buNone/>
              <a:defRPr lang="en-US" sz="3600" dirty="0">
                <a:solidFill>
                  <a:srgbClr val="E9E1CF"/>
                </a:solidFill>
                <a:latin typeface="Nanum Gothic Coding" pitchFamily="34" charset="0"/>
                <a:ea typeface="Nanum Gothic Coding" pitchFamily="34" charset="-122"/>
                <a:cs typeface="Nanum Gothic Coding"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54263"/>
            <a:ext cx="10566400" cy="3690937"/>
          </a:xfrm>
          <a:prstGeom prst="rect">
            <a:avLst/>
          </a:prstGeom>
          <a:noFill/>
          <a:ln/>
        </p:spPr>
        <p:txBody>
          <a:bodyPr wrap="square" lIns="0" tIns="0" rIns="0" bIns="0" rtlCol="0" anchor="t"/>
          <a:lstStyle>
            <a:lvl1pPr algn="l" indent="0" marL="0">
              <a:lnSpc>
                <a:spcPct val="140000"/>
              </a:lnSpc>
              <a:buNone/>
              <a:defRPr lang="en-US" sz="1600" dirty="0">
                <a:solidFill>
                  <a:srgbClr val="E9E1CF"/>
                </a:solidFill>
                <a:latin typeface="Special Elite" pitchFamily="34" charset="0"/>
                <a:ea typeface="Special Elite" pitchFamily="34" charset="-122"/>
                <a:cs typeface="Special Elit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464270"/>
            <a:ext cx="10566400" cy="585192"/>
          </a:xfrm>
          <a:prstGeom prst="rect">
            <a:avLst/>
          </a:prstGeom>
          <a:noFill/>
          <a:ln/>
        </p:spPr>
        <p:txBody>
          <a:bodyPr wrap="square" lIns="0" tIns="0" rIns="0" bIns="0" rtlCol="0" anchor="t"/>
          <a:lstStyle>
            <a:lvl1pPr algn="l" indent="0" marL="0">
              <a:lnSpc>
                <a:spcPct val="115000"/>
              </a:lnSpc>
              <a:buNone/>
              <a:defRPr lang="en-US" sz="3600" dirty="0">
                <a:solidFill>
                  <a:srgbClr val="E9E1CF"/>
                </a:solidFill>
                <a:latin typeface="Nanum Gothic Coding" pitchFamily="34" charset="0"/>
                <a:ea typeface="Nanum Gothic Coding" pitchFamily="34" charset="-122"/>
                <a:cs typeface="Nanum Gothic Coding"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54263"/>
            <a:ext cx="10566400" cy="3690937"/>
          </a:xfrm>
          <a:prstGeom prst="rect">
            <a:avLst/>
          </a:prstGeom>
          <a:noFill/>
          <a:ln/>
        </p:spPr>
        <p:txBody>
          <a:bodyPr wrap="square" lIns="0" tIns="0" rIns="0" bIns="0" rtlCol="0" anchor="t"/>
          <a:lstStyle>
            <a:lvl1pPr algn="l" indent="0" marL="0">
              <a:lnSpc>
                <a:spcPct val="140000"/>
              </a:lnSpc>
              <a:buNone/>
              <a:defRPr lang="en-US" sz="1600" dirty="0">
                <a:solidFill>
                  <a:srgbClr val="E9E1CF"/>
                </a:solidFill>
                <a:latin typeface="Special Elite" pitchFamily="34" charset="0"/>
                <a:ea typeface="Special Elite" pitchFamily="34" charset="-122"/>
                <a:cs typeface="Special Elit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ckground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464270"/>
            <a:ext cx="10566400" cy="585192"/>
          </a:xfrm>
          <a:prstGeom prst="rect">
            <a:avLst/>
          </a:prstGeom>
          <a:noFill/>
          <a:ln/>
        </p:spPr>
        <p:txBody>
          <a:bodyPr wrap="square" lIns="0" tIns="0" rIns="0" bIns="0" rtlCol="0" anchor="t"/>
          <a:lstStyle>
            <a:lvl1pPr algn="l" indent="0" marL="0">
              <a:lnSpc>
                <a:spcPct val="115000"/>
              </a:lnSpc>
              <a:buNone/>
              <a:defRPr lang="en-US" sz="3600" dirty="0">
                <a:solidFill>
                  <a:srgbClr val="E9E1CF"/>
                </a:solidFill>
                <a:latin typeface="Nanum Gothic Coding" pitchFamily="34" charset="0"/>
                <a:ea typeface="Nanum Gothic Coding" pitchFamily="34" charset="-122"/>
                <a:cs typeface="Nanum Gothic Coding"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54263"/>
            <a:ext cx="10566400" cy="3690937"/>
          </a:xfrm>
          <a:prstGeom prst="rect">
            <a:avLst/>
          </a:prstGeom>
          <a:noFill/>
          <a:ln/>
        </p:spPr>
        <p:txBody>
          <a:bodyPr wrap="square" lIns="0" tIns="0" rIns="0" bIns="0" rtlCol="0" anchor="t"/>
          <a:lstStyle>
            <a:lvl1pPr algn="l" indent="0" marL="0">
              <a:lnSpc>
                <a:spcPct val="140000"/>
              </a:lnSpc>
              <a:buNone/>
              <a:defRPr lang="en-US" sz="1600" dirty="0">
                <a:solidFill>
                  <a:srgbClr val="E9E1CF"/>
                </a:solidFill>
                <a:latin typeface="Special Elite" pitchFamily="34" charset="0"/>
                <a:ea typeface="Special Elite" pitchFamily="34" charset="-122"/>
                <a:cs typeface="Special Elite"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background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464270"/>
            <a:ext cx="10566400" cy="585192"/>
          </a:xfrm>
          <a:prstGeom prst="rect">
            <a:avLst/>
          </a:prstGeom>
          <a:noFill/>
          <a:ln/>
        </p:spPr>
        <p:txBody>
          <a:bodyPr wrap="square" lIns="0" tIns="0" rIns="0" bIns="0" rtlCol="0" anchor="t"/>
          <a:lstStyle>
            <a:lvl1pPr algn="l" indent="0" marL="0">
              <a:lnSpc>
                <a:spcPct val="115000"/>
              </a:lnSpc>
              <a:buNone/>
              <a:defRPr lang="en-US" sz="3600" dirty="0">
                <a:solidFill>
                  <a:srgbClr val="E9E1CF"/>
                </a:solidFill>
                <a:latin typeface="Nanum Gothic Coding" pitchFamily="34" charset="0"/>
                <a:ea typeface="Nanum Gothic Coding" pitchFamily="34" charset="-122"/>
                <a:cs typeface="Nanum Gothic Coding"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54263"/>
            <a:ext cx="10566400" cy="3690937"/>
          </a:xfrm>
          <a:prstGeom prst="rect">
            <a:avLst/>
          </a:prstGeom>
          <a:noFill/>
          <a:ln/>
        </p:spPr>
        <p:txBody>
          <a:bodyPr wrap="square" lIns="0" tIns="0" rIns="0" bIns="0" rtlCol="0" anchor="t"/>
          <a:lstStyle>
            <a:lvl1pPr algn="l" indent="0" marL="0">
              <a:lnSpc>
                <a:spcPct val="140000"/>
              </a:lnSpc>
              <a:buNone/>
              <a:defRPr lang="en-US" sz="1600" dirty="0">
                <a:solidFill>
                  <a:srgbClr val="E9E1CF"/>
                </a:solidFill>
                <a:latin typeface="Special Elite" pitchFamily="34" charset="0"/>
                <a:ea typeface="Special Elite" pitchFamily="34" charset="-122"/>
                <a:cs typeface="Special Elit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130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464270"/>
            <a:ext cx="10566400" cy="585192"/>
          </a:xfrm>
          <a:prstGeom prst="rect">
            <a:avLst/>
          </a:prstGeom>
          <a:noFill/>
          <a:ln/>
        </p:spPr>
        <p:txBody>
          <a:bodyPr wrap="square" lIns="0" tIns="0" rIns="0" bIns="0" rtlCol="0" anchor="t"/>
          <a:lstStyle>
            <a:lvl1pPr algn="l" indent="0" marL="0">
              <a:lnSpc>
                <a:spcPct val="115000"/>
              </a:lnSpc>
              <a:buNone/>
              <a:defRPr lang="en-US" sz="3600" dirty="0">
                <a:solidFill>
                  <a:srgbClr val="E9E1CF"/>
                </a:solidFill>
                <a:latin typeface="Nanum Gothic Coding" pitchFamily="34" charset="0"/>
                <a:ea typeface="Nanum Gothic Coding" pitchFamily="34" charset="-122"/>
                <a:cs typeface="Nanum Gothic Coding"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54263"/>
            <a:ext cx="10566400" cy="3690937"/>
          </a:xfrm>
          <a:prstGeom prst="rect">
            <a:avLst/>
          </a:prstGeom>
          <a:noFill/>
          <a:ln/>
        </p:spPr>
        <p:txBody>
          <a:bodyPr wrap="square" lIns="0" tIns="0" rIns="0" bIns="0" rtlCol="0" anchor="t"/>
          <a:lstStyle>
            <a:lvl1pPr algn="l" indent="0" marL="0">
              <a:lnSpc>
                <a:spcPct val="140000"/>
              </a:lnSpc>
              <a:buNone/>
              <a:defRPr lang="en-US" sz="1600" dirty="0">
                <a:solidFill>
                  <a:srgbClr val="E9E1CF"/>
                </a:solidFill>
                <a:latin typeface="Special Elite" pitchFamily="34" charset="0"/>
                <a:ea typeface="Special Elite" pitchFamily="34" charset="-122"/>
                <a:cs typeface="Special Elite"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 Id="rId3" Type="http://schemas.openxmlformats.org/officeDocument/2006/relationships/image" Target="../media/image10.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jp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355600" y="365125"/>
            <a:ext cx="457200" cy="0"/>
          </a:xfrm>
          <a:prstGeom prst="line">
            <a:avLst/>
          </a:prstGeom>
          <a:ln w="19050">
            <a:solidFill>
              <a:srgbClr val="E5503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365125" y="355600"/>
            <a:ext cx="0" cy="457200"/>
          </a:xfrm>
          <a:prstGeom prst="line">
            <a:avLst/>
          </a:prstGeom>
          <a:ln w="19050">
            <a:solidFill>
              <a:srgbClr val="E5503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826875" y="6045200"/>
            <a:ext cx="0" cy="457200"/>
          </a:xfrm>
          <a:prstGeom prst="line">
            <a:avLst/>
          </a:prstGeom>
          <a:ln w="19050">
            <a:solidFill>
              <a:srgbClr val="E5503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379200" y="6492875"/>
            <a:ext cx="457200" cy="0"/>
          </a:xfrm>
          <a:prstGeom prst="line">
            <a:avLst/>
          </a:prstGeom>
          <a:ln w="19050">
            <a:solidFill>
              <a:srgbClr val="E5503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12800" y="457200"/>
            <a:ext cx="5943600" cy="165100"/>
          </a:xfrm>
          <a:prstGeom prst="rect">
            <a:avLst/>
          </a:prstGeom>
          <a:noFill/>
        </p:spPr>
        <p:txBody>
          <a:bodyPr wrap="none" lIns="0" tIns="0" rIns="0" bIns="0" anchor="t"/>
          <a:lstStyle/>
          <a:p>
            <a:pPr algn="l"/>
            <a:r>
              <a:rPr sz="1300" b="0" spc="150">
                <a:solidFill>
                  <a:srgbClr val="A99F8A"/>
                </a:solidFill>
                <a:latin typeface="Special Elite"/>
                <a:ea typeface="Nanum Gothic Coding"/>
                <a:cs typeface="Nanum Gothic Coding"/>
              </a:rPr>
              <a:t>PHANTOM REPORT · DEVLOG</a:t>
            </a:r>
          </a:p>
        </p:txBody>
      </p:sp>
      <p:sp>
        <p:nvSpPr>
          <p:cNvPr id="7" name="TextBox 6"/>
          <p:cNvSpPr txBox="1"/>
          <p:nvPr/>
        </p:nvSpPr>
        <p:spPr>
          <a:xfrm>
            <a:off x="9398000" y="4572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8" name="Connector 7"/>
          <p:cNvCxnSpPr/>
          <p:nvPr/>
        </p:nvCxnSpPr>
        <p:spPr>
          <a:xfrm>
            <a:off x="812800" y="7937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12800" y="2009775"/>
            <a:ext cx="10989056" cy="209550"/>
          </a:xfrm>
          <a:prstGeom prst="rect">
            <a:avLst/>
          </a:prstGeom>
          <a:noFill/>
        </p:spPr>
        <p:txBody>
          <a:bodyPr wrap="none" lIns="0" tIns="0" rIns="0" bIns="0" anchor="t"/>
          <a:lstStyle/>
          <a:p>
            <a:pPr algn="l"/>
            <a:r>
              <a:rPr sz="1600" b="0" spc="150">
                <a:solidFill>
                  <a:srgbClr val="E5503F"/>
                </a:solidFill>
                <a:latin typeface="Special Elite"/>
                <a:ea typeface="Nanum Gothic Coding"/>
                <a:cs typeface="Nanum Gothic Coding"/>
              </a:rPr>
              <a:t>CASE #W02 · REDESIGN</a:t>
            </a:r>
          </a:p>
        </p:txBody>
      </p:sp>
      <p:sp>
        <p:nvSpPr>
          <p:cNvPr id="10" name="TextBox 9"/>
          <p:cNvSpPr txBox="1"/>
          <p:nvPr/>
        </p:nvSpPr>
        <p:spPr>
          <a:xfrm>
            <a:off x="812800" y="2397125"/>
            <a:ext cx="10989056" cy="1676400"/>
          </a:xfrm>
          <a:prstGeom prst="rect">
            <a:avLst/>
          </a:prstGeom>
          <a:noFill/>
        </p:spPr>
        <p:txBody>
          <a:bodyPr wrap="square" lIns="0" tIns="0" rIns="0" bIns="0" anchor="t"/>
          <a:lstStyle/>
          <a:p>
            <a:pPr algn="l">
              <a:lnSpc>
                <a:spcPct val="91300"/>
              </a:lnSpc>
            </a:pPr>
            <a:r>
              <a:rPr sz="6000" b="0">
                <a:solidFill>
                  <a:srgbClr val="E9E1CF"/>
                </a:solidFill>
                <a:latin typeface="Special Elite"/>
                <a:ea typeface="Nanum Gothic Coding"/>
                <a:cs typeface="Nanum Gothic Coding"/>
              </a:rPr>
              <a:t>WEEK 2</a:t>
            </a:r>
          </a:p>
          <a:p>
            <a:pPr algn="l">
              <a:lnSpc>
                <a:spcPct val="91300"/>
              </a:lnSpc>
            </a:pPr>
            <a:r>
              <a:rPr sz="6000" b="0">
                <a:solidFill>
                  <a:srgbClr val="E9E1CF"/>
                </a:solidFill>
                <a:latin typeface="Special Elite"/>
                <a:ea typeface="Nanum Gothic Coding"/>
                <a:cs typeface="Nanum Gothic Coding"/>
              </a:rPr>
              <a:t>PHANTOM REPORT</a:t>
            </a:r>
          </a:p>
        </p:txBody>
      </p:sp>
      <p:sp>
        <p:nvSpPr>
          <p:cNvPr id="11" name="TextBox 10"/>
          <p:cNvSpPr txBox="1"/>
          <p:nvPr/>
        </p:nvSpPr>
        <p:spPr>
          <a:xfrm>
            <a:off x="812800" y="4251325"/>
            <a:ext cx="10989056" cy="228600"/>
          </a:xfrm>
          <a:prstGeom prst="rect">
            <a:avLst/>
          </a:prstGeom>
          <a:noFill/>
        </p:spPr>
        <p:txBody>
          <a:bodyPr wrap="none" lIns="0" tIns="0" rIns="0" bIns="0" anchor="t"/>
          <a:lstStyle/>
          <a:p>
            <a:pPr algn="l"/>
            <a:r>
              <a:rPr sz="1800" b="0">
                <a:solidFill>
                  <a:srgbClr val="E9E1CF"/>
                </a:solidFill>
                <a:latin typeface="Nanum Gothic Coding"/>
                <a:ea typeface="Nanum Gothic Coding"/>
                <a:cs typeface="Nanum Gothic Coding"/>
              </a:rPr>
              <a:t>이번 주: FILE 01을 기준으로 FILE 02의 디자인과 원고 규칙 개편</a:t>
            </a:r>
          </a:p>
        </p:txBody>
      </p:sp>
      <p:sp>
        <p:nvSpPr>
          <p:cNvPr id="12" name="TextBox 11"/>
          <p:cNvSpPr txBox="1"/>
          <p:nvPr/>
        </p:nvSpPr>
        <p:spPr>
          <a:xfrm>
            <a:off x="812800" y="4657725"/>
            <a:ext cx="10989056" cy="190500"/>
          </a:xfrm>
          <a:prstGeom prst="rect">
            <a:avLst/>
          </a:prstGeom>
          <a:noFill/>
        </p:spPr>
        <p:txBody>
          <a:bodyPr wrap="none" lIns="0" tIns="0" rIns="0" bIns="0" anchor="t"/>
          <a:lstStyle/>
          <a:p>
            <a:pPr algn="l"/>
            <a:r>
              <a:rPr sz="1500" b="0">
                <a:solidFill>
                  <a:srgbClr val="A99F8A"/>
                </a:solidFill>
                <a:latin typeface="Nanum Gothic Coding"/>
                <a:ea typeface="Nanum Gothic Coding"/>
                <a:cs typeface="Nanum Gothic Coding"/>
              </a:rPr>
              <a:t>박용욱 · Pseudo-Lab No-More-Slops</a:t>
            </a:r>
          </a:p>
        </p:txBody>
      </p:sp>
      <p:sp>
        <p:nvSpPr>
          <p:cNvPr id="13" name="Rectangle 12"/>
          <p:cNvSpPr/>
          <p:nvPr/>
        </p:nvSpPr>
        <p:spPr>
          <a:xfrm rot="21120000">
            <a:off x="8016875" y="1285875"/>
            <a:ext cx="3016250" cy="641350"/>
          </a:xfrm>
          <a:prstGeom prst="rect">
            <a:avLst/>
          </a:prstGeom>
          <a:noFill/>
          <a:ln w="31750">
            <a:solidFill>
              <a:srgbClr val="E5503F"/>
            </a:solidFill>
          </a:ln>
          <a:effectLst/>
        </p:spPr>
        <p:style>
          <a:lnRef idx="1">
            <a:schemeClr val="accent1"/>
          </a:lnRef>
          <a:fillRef idx="3">
            <a:schemeClr val="accent1"/>
          </a:fillRef>
          <a:effectRef idx="2">
            <a:schemeClr val="accent1"/>
          </a:effectRef>
          <a:fontRef idx="minor">
            <a:schemeClr val="lt1"/>
          </a:fontRef>
        </p:style>
        <p:txBody>
          <a:bodyPr rtlCol="0" anchor="t" lIns="184150" tIns="107950" rIns="184150" bIns="107950" wrap="none"/>
          <a:lstStyle/>
          <a:p>
            <a:pPr algn="ctr"/>
            <a:r>
              <a:rPr sz="3600" b="0" spc="200">
                <a:solidFill>
                  <a:srgbClr val="E5503F">
                    <a:alpha val="85000"/>
                  </a:srgbClr>
                </a:solidFill>
                <a:latin typeface="Special Elite"/>
                <a:ea typeface="Nanum Gothic Coding"/>
                <a:cs typeface="Nanum Gothic Coding"/>
              </a:rPr>
              <a:t>CLASSIFIED</a:t>
            </a:r>
          </a:p>
        </p:txBody>
      </p:sp>
      <p:pic>
        <p:nvPicPr>
          <p:cNvPr id="14" name="Picture 13" descr="phantom.png"/>
          <p:cNvPicPr>
            <a:picLocks noChangeAspect="1"/>
          </p:cNvPicPr>
          <p:nvPr/>
        </p:nvPicPr>
        <p:blipFill>
          <a:blip r:embed="rId2"/>
          <a:stretch>
            <a:fillRect/>
          </a:stretch>
        </p:blipFill>
        <p:spPr>
          <a:xfrm>
            <a:off x="8509000" y="2667000"/>
            <a:ext cx="2540000" cy="2540000"/>
          </a:xfrm>
          <a:prstGeom prst="rect">
            <a:avLst/>
          </a:prstGeom>
        </p:spPr>
      </p:pic>
      <p:sp>
        <p:nvSpPr>
          <p:cNvPr id="15" name="TextBox 14"/>
          <p:cNvSpPr txBox="1"/>
          <p:nvPr/>
        </p:nvSpPr>
        <p:spPr>
          <a:xfrm>
            <a:off x="8458200" y="5308600"/>
            <a:ext cx="2641600" cy="152400"/>
          </a:xfrm>
          <a:prstGeom prst="rect">
            <a:avLst/>
          </a:prstGeom>
          <a:noFill/>
        </p:spPr>
        <p:txBody>
          <a:bodyPr wrap="none" lIns="0" tIns="0" rIns="0" bIns="0" anchor="t"/>
          <a:lstStyle/>
          <a:p>
            <a:pPr algn="ctr"/>
            <a:r>
              <a:rPr sz="1200" b="0" spc="100">
                <a:solidFill>
                  <a:srgbClr val="A99F8A"/>
                </a:solidFill>
                <a:latin typeface="Special Elite"/>
                <a:ea typeface="Nanum Gothic Coding"/>
                <a:cs typeface="Nanum Gothic Coding"/>
              </a:rPr>
              <a:t>@phantom_report</a:t>
            </a:r>
          </a:p>
        </p:txBody>
      </p:sp>
      <p:sp>
        <p:nvSpPr>
          <p:cNvPr id="16" name="TextBox 15"/>
          <p:cNvSpPr txBox="1"/>
          <p:nvPr/>
        </p:nvSpPr>
        <p:spPr>
          <a:xfrm>
            <a:off x="812800" y="6216650"/>
            <a:ext cx="59436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2026.10.18 · FILE 01 → FILE 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2032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CASE INDEX · 바꾼 것</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12800" y="2308225"/>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12800" y="1595438"/>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#01</a:t>
            </a:r>
          </a:p>
        </p:txBody>
      </p:sp>
      <p:sp>
        <p:nvSpPr>
          <p:cNvPr id="7" name="TextBox 6"/>
          <p:cNvSpPr txBox="1"/>
          <p:nvPr/>
        </p:nvSpPr>
        <p:spPr>
          <a:xfrm>
            <a:off x="1562100" y="1633538"/>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COLOR</a:t>
            </a:r>
          </a:p>
        </p:txBody>
      </p:sp>
      <p:sp>
        <p:nvSpPr>
          <p:cNvPr id="8" name="TextBox 7"/>
          <p:cNvSpPr txBox="1"/>
          <p:nvPr/>
        </p:nvSpPr>
        <p:spPr>
          <a:xfrm>
            <a:off x="3009900" y="1595438"/>
            <a:ext cx="1307592"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포인트 컬러</a:t>
            </a:r>
          </a:p>
        </p:txBody>
      </p:sp>
      <p:cxnSp>
        <p:nvCxnSpPr>
          <p:cNvPr id="9" name="Connector 8"/>
          <p:cNvCxnSpPr/>
          <p:nvPr/>
        </p:nvCxnSpPr>
        <p:spPr>
          <a:xfrm>
            <a:off x="6400800" y="2308225"/>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0" y="1595438"/>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#05</a:t>
            </a:r>
          </a:p>
        </p:txBody>
      </p:sp>
      <p:sp>
        <p:nvSpPr>
          <p:cNvPr id="11" name="TextBox 10"/>
          <p:cNvSpPr txBox="1"/>
          <p:nvPr/>
        </p:nvSpPr>
        <p:spPr>
          <a:xfrm>
            <a:off x="7150100" y="1633538"/>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COPY</a:t>
            </a:r>
          </a:p>
        </p:txBody>
      </p:sp>
      <p:sp>
        <p:nvSpPr>
          <p:cNvPr id="12" name="TextBox 11"/>
          <p:cNvSpPr txBox="1"/>
          <p:nvPr/>
        </p:nvSpPr>
        <p:spPr>
          <a:xfrm>
            <a:off x="8597900" y="1595438"/>
            <a:ext cx="2139696"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출처·행동 줄 삭제</a:t>
            </a:r>
          </a:p>
        </p:txBody>
      </p:sp>
      <p:cxnSp>
        <p:nvCxnSpPr>
          <p:cNvPr id="13" name="Connector 12"/>
          <p:cNvCxnSpPr/>
          <p:nvPr/>
        </p:nvCxnSpPr>
        <p:spPr>
          <a:xfrm>
            <a:off x="812800" y="3505200"/>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2800" y="2792412"/>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#02</a:t>
            </a:r>
          </a:p>
        </p:txBody>
      </p:sp>
      <p:sp>
        <p:nvSpPr>
          <p:cNvPr id="15" name="TextBox 14"/>
          <p:cNvSpPr txBox="1"/>
          <p:nvPr/>
        </p:nvSpPr>
        <p:spPr>
          <a:xfrm>
            <a:off x="1562100" y="2830512"/>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COVER</a:t>
            </a:r>
          </a:p>
        </p:txBody>
      </p:sp>
      <p:sp>
        <p:nvSpPr>
          <p:cNvPr id="16" name="TextBox 15"/>
          <p:cNvSpPr txBox="1"/>
          <p:nvPr/>
        </p:nvSpPr>
        <p:spPr>
          <a:xfrm>
            <a:off x="3009900" y="2792412"/>
            <a:ext cx="475488"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표지</a:t>
            </a:r>
          </a:p>
        </p:txBody>
      </p:sp>
      <p:cxnSp>
        <p:nvCxnSpPr>
          <p:cNvPr id="17" name="Connector 16"/>
          <p:cNvCxnSpPr/>
          <p:nvPr/>
        </p:nvCxnSpPr>
        <p:spPr>
          <a:xfrm>
            <a:off x="6400800" y="3505200"/>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0" y="2792412"/>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#06</a:t>
            </a:r>
          </a:p>
        </p:txBody>
      </p:sp>
      <p:sp>
        <p:nvSpPr>
          <p:cNvPr id="19" name="TextBox 18"/>
          <p:cNvSpPr txBox="1"/>
          <p:nvPr/>
        </p:nvSpPr>
        <p:spPr>
          <a:xfrm>
            <a:off x="7150100" y="2830512"/>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TONE</a:t>
            </a:r>
          </a:p>
        </p:txBody>
      </p:sp>
      <p:sp>
        <p:nvSpPr>
          <p:cNvPr id="20" name="TextBox 19"/>
          <p:cNvSpPr txBox="1"/>
          <p:nvPr/>
        </p:nvSpPr>
        <p:spPr>
          <a:xfrm>
            <a:off x="8597900" y="2792412"/>
            <a:ext cx="475488"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문체</a:t>
            </a:r>
          </a:p>
        </p:txBody>
      </p:sp>
      <p:cxnSp>
        <p:nvCxnSpPr>
          <p:cNvPr id="21" name="Connector 20"/>
          <p:cNvCxnSpPr/>
          <p:nvPr/>
        </p:nvCxnSpPr>
        <p:spPr>
          <a:xfrm>
            <a:off x="812800" y="4702175"/>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12800" y="3989388"/>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#03</a:t>
            </a:r>
          </a:p>
        </p:txBody>
      </p:sp>
      <p:sp>
        <p:nvSpPr>
          <p:cNvPr id="23" name="TextBox 22"/>
          <p:cNvSpPr txBox="1"/>
          <p:nvPr/>
        </p:nvSpPr>
        <p:spPr>
          <a:xfrm>
            <a:off x="1562100" y="4027488"/>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FONT</a:t>
            </a:r>
          </a:p>
        </p:txBody>
      </p:sp>
      <p:sp>
        <p:nvSpPr>
          <p:cNvPr id="24" name="TextBox 23"/>
          <p:cNvSpPr txBox="1"/>
          <p:nvPr/>
        </p:nvSpPr>
        <p:spPr>
          <a:xfrm>
            <a:off x="3009900" y="3989388"/>
            <a:ext cx="475488"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글꼴</a:t>
            </a:r>
          </a:p>
        </p:txBody>
      </p:sp>
      <p:cxnSp>
        <p:nvCxnSpPr>
          <p:cNvPr id="25" name="Connector 24"/>
          <p:cNvCxnSpPr/>
          <p:nvPr/>
        </p:nvCxnSpPr>
        <p:spPr>
          <a:xfrm>
            <a:off x="6400800" y="4702175"/>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0" y="3989388"/>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#07</a:t>
            </a:r>
          </a:p>
        </p:txBody>
      </p:sp>
      <p:sp>
        <p:nvSpPr>
          <p:cNvPr id="27" name="TextBox 26"/>
          <p:cNvSpPr txBox="1"/>
          <p:nvPr/>
        </p:nvSpPr>
        <p:spPr>
          <a:xfrm>
            <a:off x="7150100" y="4027488"/>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IMAGE</a:t>
            </a:r>
          </a:p>
        </p:txBody>
      </p:sp>
      <p:sp>
        <p:nvSpPr>
          <p:cNvPr id="28" name="TextBox 27"/>
          <p:cNvSpPr txBox="1"/>
          <p:nvPr/>
        </p:nvSpPr>
        <p:spPr>
          <a:xfrm>
            <a:off x="8597900" y="3989388"/>
            <a:ext cx="713232"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이미지</a:t>
            </a:r>
          </a:p>
        </p:txBody>
      </p:sp>
      <p:cxnSp>
        <p:nvCxnSpPr>
          <p:cNvPr id="29" name="Connector 28"/>
          <p:cNvCxnSpPr/>
          <p:nvPr/>
        </p:nvCxnSpPr>
        <p:spPr>
          <a:xfrm>
            <a:off x="812800" y="5899150"/>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2800" y="5186362"/>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#04</a:t>
            </a:r>
          </a:p>
        </p:txBody>
      </p:sp>
      <p:sp>
        <p:nvSpPr>
          <p:cNvPr id="31" name="TextBox 30"/>
          <p:cNvSpPr txBox="1"/>
          <p:nvPr/>
        </p:nvSpPr>
        <p:spPr>
          <a:xfrm>
            <a:off x="1562100" y="5224462"/>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LAYOUT</a:t>
            </a:r>
          </a:p>
        </p:txBody>
      </p:sp>
      <p:sp>
        <p:nvSpPr>
          <p:cNvPr id="32" name="TextBox 31"/>
          <p:cNvSpPr txBox="1"/>
          <p:nvPr/>
        </p:nvSpPr>
        <p:spPr>
          <a:xfrm>
            <a:off x="3009900" y="5186362"/>
            <a:ext cx="1426464"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사건 장 구성</a:t>
            </a:r>
          </a:p>
        </p:txBody>
      </p:sp>
      <p:cxnSp>
        <p:nvCxnSpPr>
          <p:cNvPr id="33" name="Connector 32"/>
          <p:cNvCxnSpPr/>
          <p:nvPr/>
        </p:nvCxnSpPr>
        <p:spPr>
          <a:xfrm>
            <a:off x="6400800" y="5899150"/>
            <a:ext cx="4978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400800" y="5186362"/>
            <a:ext cx="594360" cy="228600"/>
          </a:xfrm>
          <a:prstGeom prst="rect">
            <a:avLst/>
          </a:prstGeom>
          <a:noFill/>
        </p:spPr>
        <p:txBody>
          <a:bodyPr wrap="none" lIns="0" tIns="0" rIns="0" bIns="0" anchor="t"/>
          <a:lstStyle/>
          <a:p>
            <a:pPr algn="l"/>
            <a:r>
              <a:rPr sz="1800" b="0">
                <a:solidFill>
                  <a:srgbClr val="E5503F"/>
                </a:solidFill>
                <a:latin typeface="Special Elite"/>
                <a:ea typeface="Nanum Gothic Coding"/>
                <a:cs typeface="Nanum Gothic Coding"/>
              </a:rPr>
              <a:t>#08</a:t>
            </a:r>
          </a:p>
        </p:txBody>
      </p:sp>
      <p:sp>
        <p:nvSpPr>
          <p:cNvPr id="35" name="TextBox 34"/>
          <p:cNvSpPr txBox="1"/>
          <p:nvPr/>
        </p:nvSpPr>
        <p:spPr>
          <a:xfrm>
            <a:off x="7150100" y="5224462"/>
            <a:ext cx="13208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LAST PAGE</a:t>
            </a:r>
          </a:p>
        </p:txBody>
      </p:sp>
      <p:sp>
        <p:nvSpPr>
          <p:cNvPr id="36" name="TextBox 35"/>
          <p:cNvSpPr txBox="1"/>
          <p:nvPr/>
        </p:nvSpPr>
        <p:spPr>
          <a:xfrm>
            <a:off x="8597900" y="5186362"/>
            <a:ext cx="1069848" cy="228600"/>
          </a:xfrm>
          <a:prstGeom prst="rect">
            <a:avLst/>
          </a:prstGeom>
          <a:noFill/>
        </p:spPr>
        <p:txBody>
          <a:bodyPr wrap="none" lIns="0" tIns="0" rIns="0" bIns="0" anchor="t"/>
          <a:lstStyle/>
          <a:p>
            <a:pPr algn="l"/>
            <a:r>
              <a:rPr sz="1800" b="1">
                <a:solidFill>
                  <a:srgbClr val="E9E1CF"/>
                </a:solidFill>
                <a:latin typeface="Nanum Gothic Coding"/>
                <a:ea typeface="Nanum Gothic Coding"/>
                <a:cs typeface="Nanum Gothic Coding"/>
              </a:rPr>
              <a:t>마지막 장</a:t>
            </a:r>
          </a:p>
        </p:txBody>
      </p:sp>
      <p:sp>
        <p:nvSpPr>
          <p:cNvPr id="37" name="TextBox 36"/>
          <p:cNvSpPr txBox="1"/>
          <p:nvPr/>
        </p:nvSpPr>
        <p:spPr>
          <a:xfrm>
            <a:off x="812800" y="6267450"/>
            <a:ext cx="85852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8 CHANGES · 박용욱</a:t>
            </a:r>
          </a:p>
        </p:txBody>
      </p:sp>
      <p:sp>
        <p:nvSpPr>
          <p:cNvPr id="38" name="TextBox 37"/>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EXHIBIT 01 · BEFORE / AFTER</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8장이던 포스트가 7장이 됐습니다</a:t>
            </a:r>
          </a:p>
        </p:txBody>
      </p:sp>
      <p:sp>
        <p:nvSpPr>
          <p:cNvPr id="6" name="TextBox 5"/>
          <p:cNvSpPr txBox="1"/>
          <p:nvPr/>
        </p:nvSpPr>
        <p:spPr>
          <a:xfrm>
            <a:off x="812800" y="1762720"/>
            <a:ext cx="10989056" cy="203200"/>
          </a:xfrm>
          <a:prstGeom prst="rect">
            <a:avLst/>
          </a:prstGeom>
          <a:noFill/>
        </p:spPr>
        <p:txBody>
          <a:bodyPr wrap="none" lIns="0" tIns="0" rIns="0" bIns="0" anchor="t"/>
          <a:lstStyle/>
          <a:p>
            <a:pPr algn="l"/>
            <a:r>
              <a:rPr sz="1300" b="0" spc="100">
                <a:solidFill>
                  <a:srgbClr val="A99F8A"/>
                </a:solidFill>
                <a:latin typeface="Special Elite"/>
                <a:ea typeface="Nanum Gothic Coding"/>
                <a:cs typeface="Nanum Gothic Coding"/>
              </a:rPr>
              <a:t>WEEK 1 · FILE 01 · 사건 5건 · 8장</a:t>
            </a:r>
          </a:p>
        </p:txBody>
      </p:sp>
      <p:pic>
        <p:nvPicPr>
          <p:cNvPr id="7" name="Picture 6" descr="w1-sheet.jpg"/>
          <p:cNvPicPr>
            <a:picLocks noChangeAspect="1"/>
          </p:cNvPicPr>
          <p:nvPr/>
        </p:nvPicPr>
        <p:blipFill>
          <a:blip r:embed="rId2"/>
          <a:stretch>
            <a:fillRect/>
          </a:stretch>
        </p:blipFill>
        <p:spPr>
          <a:xfrm>
            <a:off x="894080" y="2054820"/>
            <a:ext cx="9591040" cy="1498600"/>
          </a:xfrm>
          <a:prstGeom prst="rect">
            <a:avLst/>
          </a:prstGeom>
        </p:spPr>
      </p:pic>
      <p:sp>
        <p:nvSpPr>
          <p:cNvPr id="8" name="Rectangle 7"/>
          <p:cNvSpPr/>
          <p:nvPr/>
        </p:nvSpPr>
        <p:spPr>
          <a:xfrm>
            <a:off x="819150" y="2048470"/>
            <a:ext cx="9740900" cy="1511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3743920"/>
            <a:ext cx="10989056" cy="203200"/>
          </a:xfrm>
          <a:prstGeom prst="rect">
            <a:avLst/>
          </a:prstGeom>
          <a:noFill/>
        </p:spPr>
        <p:txBody>
          <a:bodyPr wrap="none" lIns="0" tIns="0" rIns="0" bIns="0" anchor="t"/>
          <a:lstStyle/>
          <a:p>
            <a:pPr algn="l"/>
            <a:r>
              <a:rPr sz="1300" b="0" spc="100">
                <a:solidFill>
                  <a:srgbClr val="E5503F"/>
                </a:solidFill>
                <a:latin typeface="Special Elite"/>
                <a:ea typeface="Nanum Gothic Coding"/>
                <a:cs typeface="Nanum Gothic Coding"/>
              </a:rPr>
              <a:t>WEEK 2 · FILE 02 · 사건 5건 · 7장</a:t>
            </a:r>
          </a:p>
        </p:txBody>
      </p:sp>
      <p:pic>
        <p:nvPicPr>
          <p:cNvPr id="10" name="Picture 9" descr="w2-sheet.jpg"/>
          <p:cNvPicPr>
            <a:picLocks noChangeAspect="1"/>
          </p:cNvPicPr>
          <p:nvPr/>
        </p:nvPicPr>
        <p:blipFill>
          <a:blip r:embed="rId3"/>
          <a:stretch>
            <a:fillRect/>
          </a:stretch>
        </p:blipFill>
        <p:spPr>
          <a:xfrm>
            <a:off x="883920" y="4036020"/>
            <a:ext cx="8392160" cy="1498600"/>
          </a:xfrm>
          <a:prstGeom prst="rect">
            <a:avLst/>
          </a:prstGeom>
        </p:spPr>
      </p:pic>
      <p:sp>
        <p:nvSpPr>
          <p:cNvPr id="11" name="Rectangle 10"/>
          <p:cNvSpPr/>
          <p:nvPr/>
        </p:nvSpPr>
        <p:spPr>
          <a:xfrm>
            <a:off x="819150" y="4029670"/>
            <a:ext cx="8521700" cy="1511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6299200"/>
            <a:ext cx="85852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design/file-01.html · design/file-02.html</a:t>
            </a:r>
          </a:p>
        </p:txBody>
      </p:sp>
      <p:sp>
        <p:nvSpPr>
          <p:cNvPr id="13" name="TextBox 12"/>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#01 · COLOR</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포인트 컬러를 레드 하나로 정했습니다</a:t>
            </a:r>
          </a:p>
        </p:txBody>
      </p:sp>
      <p:sp>
        <p:nvSpPr>
          <p:cNvPr id="6" name="TextBox 5"/>
          <p:cNvSpPr txBox="1"/>
          <p:nvPr/>
        </p:nvSpPr>
        <p:spPr>
          <a:xfrm>
            <a:off x="812800" y="1854795"/>
            <a:ext cx="2958592"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POINT COLOR</a:t>
            </a:r>
          </a:p>
        </p:txBody>
      </p:sp>
      <p:sp>
        <p:nvSpPr>
          <p:cNvPr id="7" name="Rectangle 6"/>
          <p:cNvSpPr/>
          <p:nvPr/>
        </p:nvSpPr>
        <p:spPr>
          <a:xfrm>
            <a:off x="812800" y="2083395"/>
            <a:ext cx="2844800" cy="3556000"/>
          </a:xfrm>
          <a:prstGeom prst="rect">
            <a:avLst/>
          </a:prstGeom>
          <a:solidFill>
            <a:srgbClr val="C83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6800" y="4648795"/>
            <a:ext cx="2430272" cy="355600"/>
          </a:xfrm>
          <a:prstGeom prst="rect">
            <a:avLst/>
          </a:prstGeom>
          <a:noFill/>
        </p:spPr>
        <p:txBody>
          <a:bodyPr wrap="none" lIns="0" tIns="0" rIns="0" bIns="0" anchor="t"/>
          <a:lstStyle/>
          <a:p>
            <a:pPr algn="l"/>
            <a:r>
              <a:rPr sz="2800" b="0">
                <a:solidFill>
                  <a:srgbClr val="F3EBDA"/>
                </a:solidFill>
                <a:latin typeface="Special Elite"/>
                <a:ea typeface="Nanum Gothic Coding"/>
                <a:cs typeface="Nanum Gothic Coding"/>
              </a:rPr>
              <a:t>#c8352b</a:t>
            </a:r>
          </a:p>
        </p:txBody>
      </p:sp>
      <p:sp>
        <p:nvSpPr>
          <p:cNvPr id="9" name="TextBox 8"/>
          <p:cNvSpPr txBox="1"/>
          <p:nvPr/>
        </p:nvSpPr>
        <p:spPr>
          <a:xfrm>
            <a:off x="1066800" y="5055195"/>
            <a:ext cx="2430272" cy="330200"/>
          </a:xfrm>
          <a:prstGeom prst="rect">
            <a:avLst/>
          </a:prstGeom>
          <a:noFill/>
        </p:spPr>
        <p:txBody>
          <a:bodyPr wrap="square" lIns="0" tIns="0" rIns="0" bIns="0" anchor="t"/>
          <a:lstStyle/>
          <a:p>
            <a:pPr algn="l"/>
            <a:r>
              <a:rPr sz="1300" b="0">
                <a:solidFill>
                  <a:srgbClr val="F3EBDA"/>
                </a:solidFill>
                <a:latin typeface="Nanum Gothic Coding"/>
                <a:ea typeface="Nanum Gothic Coding"/>
                <a:cs typeface="Nanum Gothic Coding"/>
              </a:rPr>
              <a:t>템플릿 --red · 이미지 ‘deep red accent’</a:t>
            </a:r>
          </a:p>
        </p:txBody>
      </p:sp>
      <p:sp>
        <p:nvSpPr>
          <p:cNvPr id="10" name="TextBox 9"/>
          <p:cNvSpPr txBox="1"/>
          <p:nvPr/>
        </p:nvSpPr>
        <p:spPr>
          <a:xfrm>
            <a:off x="3835400" y="1838920"/>
            <a:ext cx="2958592"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막대·라벨·이미지</a:t>
            </a:r>
          </a:p>
        </p:txBody>
      </p:sp>
      <p:pic>
        <p:nvPicPr>
          <p:cNvPr id="11" name="Picture 10" descr="w2-02.jpg"/>
          <p:cNvPicPr>
            <a:picLocks noChangeAspect="1"/>
          </p:cNvPicPr>
          <p:nvPr/>
        </p:nvPicPr>
        <p:blipFill>
          <a:blip r:embed="rId2"/>
          <a:srcRect l="90" r="90"/>
          <a:stretch>
            <a:fillRect/>
          </a:stretch>
        </p:blipFill>
        <p:spPr>
          <a:xfrm>
            <a:off x="3848100" y="2111970"/>
            <a:ext cx="2819400" cy="3530600"/>
          </a:xfrm>
          <a:prstGeom prst="rect">
            <a:avLst/>
          </a:prstGeom>
        </p:spPr>
      </p:pic>
      <p:sp>
        <p:nvSpPr>
          <p:cNvPr id="12" name="Rectangle 11"/>
          <p:cNvSpPr/>
          <p:nvPr/>
        </p:nvSpPr>
        <p:spPr>
          <a:xfrm>
            <a:off x="3841750" y="2105620"/>
            <a:ext cx="2832100" cy="3543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85000" y="2645370"/>
            <a:ext cx="4569968"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PROBLEM</a:t>
            </a:r>
          </a:p>
        </p:txBody>
      </p:sp>
      <p:sp>
        <p:nvSpPr>
          <p:cNvPr id="14" name="TextBox 13"/>
          <p:cNvSpPr txBox="1"/>
          <p:nvPr/>
        </p:nvSpPr>
        <p:spPr>
          <a:xfrm>
            <a:off x="6985000" y="2912070"/>
            <a:ext cx="4569968" cy="571500"/>
          </a:xfrm>
          <a:prstGeom prst="rect">
            <a:avLst/>
          </a:prstGeom>
          <a:noFill/>
        </p:spPr>
        <p:txBody>
          <a:bodyPr wrap="square" lIns="0" tIns="0" rIns="0" bIns="0" anchor="t"/>
          <a:lstStyle/>
          <a:p>
            <a:pPr algn="l">
              <a:lnSpc>
                <a:spcPct val="124500"/>
              </a:lnSpc>
            </a:pPr>
            <a:r>
              <a:rPr sz="1500" b="0">
                <a:solidFill>
                  <a:srgbClr val="E9E1CF"/>
                </a:solidFill>
                <a:latin typeface="Nanum Gothic Coding"/>
                <a:ea typeface="Nanum Gothic Coding"/>
                <a:cs typeface="Nanum Gothic Coding"/>
              </a:rPr>
              <a:t>기준 색이 문서에 없어서 슬라이드와 이미지 색이 따로 갈 수 있었습니다.</a:t>
            </a:r>
          </a:p>
        </p:txBody>
      </p:sp>
      <p:cxnSp>
        <p:nvCxnSpPr>
          <p:cNvPr id="15" name="Connector 14"/>
          <p:cNvCxnSpPr/>
          <p:nvPr/>
        </p:nvCxnSpPr>
        <p:spPr>
          <a:xfrm>
            <a:off x="6985000" y="3604220"/>
            <a:ext cx="43942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985000" y="3724870"/>
            <a:ext cx="4569968"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FIX</a:t>
            </a:r>
          </a:p>
        </p:txBody>
      </p:sp>
      <p:sp>
        <p:nvSpPr>
          <p:cNvPr id="17" name="TextBox 16"/>
          <p:cNvSpPr txBox="1"/>
          <p:nvPr/>
        </p:nvSpPr>
        <p:spPr>
          <a:xfrm>
            <a:off x="7213600" y="3991570"/>
            <a:ext cx="43322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쓰던 레드를 기준 색으로 확정</a:t>
            </a:r>
          </a:p>
        </p:txBody>
      </p:sp>
      <p:sp>
        <p:nvSpPr>
          <p:cNvPr id="18" name="TextBox 17"/>
          <p:cNvSpPr txBox="1"/>
          <p:nvPr/>
        </p:nvSpPr>
        <p:spPr>
          <a:xfrm>
            <a:off x="7213600" y="4277320"/>
            <a:ext cx="43322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슬라이드와 이미지 프롬프트에 같은 레드</a:t>
            </a:r>
          </a:p>
        </p:txBody>
      </p:sp>
      <p:sp>
        <p:nvSpPr>
          <p:cNvPr id="19" name="TextBox 18"/>
          <p:cNvSpPr txBox="1"/>
          <p:nvPr/>
        </p:nvSpPr>
        <p:spPr>
          <a:xfrm>
            <a:off x="7213600" y="4563070"/>
            <a:ext cx="43322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바꿀 때는 둘을 함께 바꿉니다</a:t>
            </a:r>
          </a:p>
        </p:txBody>
      </p:sp>
      <p:sp>
        <p:nvSpPr>
          <p:cNvPr id="20" name="TextBox 19"/>
          <p:cNvSpPr txBox="1"/>
          <p:nvPr/>
        </p:nvSpPr>
        <p:spPr>
          <a:xfrm>
            <a:off x="812800" y="6267450"/>
            <a:ext cx="85852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README.md 「슬라이드」 · scripts/gen_images.py</a:t>
            </a:r>
          </a:p>
        </p:txBody>
      </p:sp>
      <p:sp>
        <p:nvSpPr>
          <p:cNvPr id="21" name="TextBox 20"/>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#02 · COVER</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표지와 목차를 한 장으로 합쳤습니다</a:t>
            </a:r>
          </a:p>
        </p:txBody>
      </p:sp>
      <p:sp>
        <p:nvSpPr>
          <p:cNvPr id="6" name="TextBox 5"/>
          <p:cNvSpPr txBox="1"/>
          <p:nvPr/>
        </p:nvSpPr>
        <p:spPr>
          <a:xfrm>
            <a:off x="812800" y="1838920"/>
            <a:ext cx="475488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WEEK 1 · 표지 + 목차</a:t>
            </a:r>
          </a:p>
        </p:txBody>
      </p:sp>
      <p:pic>
        <p:nvPicPr>
          <p:cNvPr id="7" name="Picture 6" descr="w1-01.jpg"/>
          <p:cNvPicPr>
            <a:picLocks noChangeAspect="1"/>
          </p:cNvPicPr>
          <p:nvPr/>
        </p:nvPicPr>
        <p:blipFill>
          <a:blip r:embed="rId2"/>
          <a:srcRect l="115" r="115"/>
          <a:stretch>
            <a:fillRect/>
          </a:stretch>
        </p:blipFill>
        <p:spPr>
          <a:xfrm>
            <a:off x="825500" y="2111970"/>
            <a:ext cx="2209800" cy="2768600"/>
          </a:xfrm>
          <a:prstGeom prst="rect">
            <a:avLst/>
          </a:prstGeom>
        </p:spPr>
      </p:pic>
      <p:sp>
        <p:nvSpPr>
          <p:cNvPr id="8" name="Rectangle 7"/>
          <p:cNvSpPr/>
          <p:nvPr/>
        </p:nvSpPr>
        <p:spPr>
          <a:xfrm>
            <a:off x="819150" y="2105620"/>
            <a:ext cx="2222500" cy="2781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1-02.jpg"/>
          <p:cNvPicPr>
            <a:picLocks noChangeAspect="1"/>
          </p:cNvPicPr>
          <p:nvPr/>
        </p:nvPicPr>
        <p:blipFill>
          <a:blip r:embed="rId3"/>
          <a:srcRect l="115" r="115"/>
          <a:stretch>
            <a:fillRect/>
          </a:stretch>
        </p:blipFill>
        <p:spPr>
          <a:xfrm>
            <a:off x="3162300" y="2111970"/>
            <a:ext cx="2209800" cy="2768600"/>
          </a:xfrm>
          <a:prstGeom prst="rect">
            <a:avLst/>
          </a:prstGeom>
        </p:spPr>
      </p:pic>
      <p:sp>
        <p:nvSpPr>
          <p:cNvPr id="10" name="Rectangle 9"/>
          <p:cNvSpPr/>
          <p:nvPr/>
        </p:nvSpPr>
        <p:spPr>
          <a:xfrm>
            <a:off x="3155950" y="2105620"/>
            <a:ext cx="2222500" cy="2781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7200" y="3188295"/>
            <a:ext cx="369824" cy="355600"/>
          </a:xfrm>
          <a:prstGeom prst="rect">
            <a:avLst/>
          </a:prstGeom>
          <a:noFill/>
        </p:spPr>
        <p:txBody>
          <a:bodyPr wrap="none" lIns="0" tIns="0" rIns="0" bIns="0" anchor="t"/>
          <a:lstStyle/>
          <a:p>
            <a:pPr algn="l"/>
            <a:r>
              <a:rPr sz="2800" b="0">
                <a:solidFill>
                  <a:srgbClr val="E5503F"/>
                </a:solidFill>
                <a:latin typeface="Nanum Gothic Coding"/>
                <a:ea typeface="Nanum Gothic Coding"/>
                <a:cs typeface="Nanum Gothic Coding"/>
              </a:rPr>
              <a:t>→</a:t>
            </a:r>
          </a:p>
        </p:txBody>
      </p:sp>
      <p:sp>
        <p:nvSpPr>
          <p:cNvPr id="12" name="TextBox 11"/>
          <p:cNvSpPr txBox="1"/>
          <p:nvPr/>
        </p:nvSpPr>
        <p:spPr>
          <a:xfrm>
            <a:off x="6045200" y="1838920"/>
            <a:ext cx="2324608"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증거 보드</a:t>
            </a:r>
          </a:p>
        </p:txBody>
      </p:sp>
      <p:pic>
        <p:nvPicPr>
          <p:cNvPr id="13" name="Picture 12" descr="w2-01.jpg"/>
          <p:cNvPicPr>
            <a:picLocks noChangeAspect="1"/>
          </p:cNvPicPr>
          <p:nvPr/>
        </p:nvPicPr>
        <p:blipFill>
          <a:blip r:embed="rId4"/>
          <a:srcRect l="115" r="115"/>
          <a:stretch>
            <a:fillRect/>
          </a:stretch>
        </p:blipFill>
        <p:spPr>
          <a:xfrm>
            <a:off x="6057900" y="2111970"/>
            <a:ext cx="2209800" cy="2768600"/>
          </a:xfrm>
          <a:prstGeom prst="rect">
            <a:avLst/>
          </a:prstGeom>
        </p:spPr>
      </p:pic>
      <p:sp>
        <p:nvSpPr>
          <p:cNvPr id="14" name="Rectangle 13"/>
          <p:cNvSpPr/>
          <p:nvPr/>
        </p:nvSpPr>
        <p:spPr>
          <a:xfrm>
            <a:off x="6051550" y="2105620"/>
            <a:ext cx="2222500" cy="2781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4400" y="1959570"/>
            <a:ext cx="2958592"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PROBLEM</a:t>
            </a:r>
          </a:p>
        </p:txBody>
      </p:sp>
      <p:sp>
        <p:nvSpPr>
          <p:cNvPr id="16" name="TextBox 15"/>
          <p:cNvSpPr txBox="1"/>
          <p:nvPr/>
        </p:nvSpPr>
        <p:spPr>
          <a:xfrm>
            <a:off x="8534400" y="2226270"/>
            <a:ext cx="2958592" cy="571500"/>
          </a:xfrm>
          <a:prstGeom prst="rect">
            <a:avLst/>
          </a:prstGeom>
          <a:noFill/>
        </p:spPr>
        <p:txBody>
          <a:bodyPr wrap="square" lIns="0" tIns="0" rIns="0" bIns="0" anchor="t"/>
          <a:lstStyle/>
          <a:p>
            <a:pPr algn="l">
              <a:lnSpc>
                <a:spcPct val="124500"/>
              </a:lnSpc>
            </a:pPr>
            <a:r>
              <a:rPr sz="1500" b="0">
                <a:solidFill>
                  <a:srgbClr val="E9E1CF"/>
                </a:solidFill>
                <a:latin typeface="Nanum Gothic Coding"/>
                <a:ea typeface="Nanum Gothic Coding"/>
                <a:cs typeface="Nanum Gothic Coding"/>
              </a:rPr>
              <a:t>사건 하나의 헤드라인이 표지를 차지했습니다.</a:t>
            </a:r>
          </a:p>
        </p:txBody>
      </p:sp>
      <p:cxnSp>
        <p:nvCxnSpPr>
          <p:cNvPr id="17" name="Connector 16"/>
          <p:cNvCxnSpPr/>
          <p:nvPr/>
        </p:nvCxnSpPr>
        <p:spPr>
          <a:xfrm>
            <a:off x="8534400" y="2918420"/>
            <a:ext cx="28448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34400" y="3039070"/>
            <a:ext cx="2958592"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FIX</a:t>
            </a:r>
          </a:p>
        </p:txBody>
      </p:sp>
      <p:sp>
        <p:nvSpPr>
          <p:cNvPr id="19" name="TextBox 18"/>
          <p:cNvSpPr txBox="1"/>
          <p:nvPr/>
        </p:nvSpPr>
        <p:spPr>
          <a:xfrm>
            <a:off x="8534400" y="3305770"/>
            <a:ext cx="2958592" cy="857250"/>
          </a:xfrm>
          <a:prstGeom prst="rect">
            <a:avLst/>
          </a:prstGeom>
          <a:noFill/>
        </p:spPr>
        <p:txBody>
          <a:bodyPr wrap="square" lIns="0" tIns="0" rIns="0" bIns="0" anchor="t"/>
          <a:lstStyle/>
          <a:p>
            <a:pPr algn="l">
              <a:lnSpc>
                <a:spcPct val="124500"/>
              </a:lnSpc>
            </a:pPr>
            <a:r>
              <a:rPr sz="1500" b="0">
                <a:solidFill>
                  <a:srgbClr val="E9E1CF"/>
                </a:solidFill>
                <a:latin typeface="Nanum Gothic Coding"/>
                <a:ea typeface="Nanum Gothic Coding"/>
                <a:cs typeface="Nanum Gothic Coding"/>
              </a:rPr>
              <a:t>그 주 사건 이미지를 모두 붙이고, 캡션 ‘#번호 분류’가 목차를 맡습니다.</a:t>
            </a:r>
          </a:p>
        </p:txBody>
      </p:sp>
      <p:sp>
        <p:nvSpPr>
          <p:cNvPr id="20" name="TextBox 19"/>
          <p:cNvSpPr txBox="1"/>
          <p:nvPr/>
        </p:nvSpPr>
        <p:spPr>
          <a:xfrm>
            <a:off x="8534400" y="4277320"/>
            <a:ext cx="2958592" cy="495300"/>
          </a:xfrm>
          <a:prstGeom prst="rect">
            <a:avLst/>
          </a:prstGeom>
          <a:noFill/>
        </p:spPr>
        <p:txBody>
          <a:bodyPr wrap="square" lIns="0" tIns="0" rIns="0" bIns="0" anchor="t"/>
          <a:lstStyle/>
          <a:p>
            <a:pPr algn="l">
              <a:lnSpc>
                <a:spcPct val="124500"/>
              </a:lnSpc>
            </a:pPr>
            <a:r>
              <a:rPr sz="1300" b="0">
                <a:solidFill>
                  <a:srgbClr val="A99F8A"/>
                </a:solidFill>
                <a:latin typeface="Nanum Gothic Coding"/>
                <a:ea typeface="Nanum Gothic Coding"/>
                <a:cs typeface="Nanum Gothic Coding"/>
              </a:rPr>
              <a:t>시안 7라운드 끝에 정했고, SWIPE 표시는 뺐습니다.</a:t>
            </a:r>
          </a:p>
        </p:txBody>
      </p:sp>
      <p:sp>
        <p:nvSpPr>
          <p:cNvPr id="21" name="TextBox 20"/>
          <p:cNvSpPr txBox="1"/>
          <p:nvPr/>
        </p:nvSpPr>
        <p:spPr>
          <a:xfrm>
            <a:off x="812800" y="6267450"/>
            <a:ext cx="85852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devlog/week-02.md · README.md 「슬라이드」</a:t>
            </a:r>
          </a:p>
        </p:txBody>
      </p:sp>
      <p:sp>
        <p:nvSpPr>
          <p:cNvPr id="22" name="TextBox 21"/>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#03 · FONT</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타자기 글꼴을 빼고 Noto로 바꿨습니다</a:t>
            </a:r>
          </a:p>
        </p:txBody>
      </p:sp>
      <p:sp>
        <p:nvSpPr>
          <p:cNvPr id="6" name="TextBox 5"/>
          <p:cNvSpPr txBox="1"/>
          <p:nvPr/>
        </p:nvSpPr>
        <p:spPr>
          <a:xfrm>
            <a:off x="812800" y="1838920"/>
            <a:ext cx="402844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WEEK 1 · 나눔고딕코딩 + Special Elite</a:t>
            </a:r>
          </a:p>
        </p:txBody>
      </p:sp>
      <p:pic>
        <p:nvPicPr>
          <p:cNvPr id="7" name="Picture 6" descr="font-w1.png"/>
          <p:cNvPicPr>
            <a:picLocks noChangeAspect="1"/>
          </p:cNvPicPr>
          <p:nvPr/>
        </p:nvPicPr>
        <p:blipFill>
          <a:blip r:embed="rId2"/>
          <a:srcRect t="409" b="409"/>
          <a:stretch>
            <a:fillRect/>
          </a:stretch>
        </p:blipFill>
        <p:spPr>
          <a:xfrm>
            <a:off x="825500" y="2111970"/>
            <a:ext cx="3848100" cy="1625600"/>
          </a:xfrm>
          <a:prstGeom prst="rect">
            <a:avLst/>
          </a:prstGeom>
        </p:spPr>
      </p:pic>
      <p:sp>
        <p:nvSpPr>
          <p:cNvPr id="8" name="Rectangle 7"/>
          <p:cNvSpPr/>
          <p:nvPr/>
        </p:nvSpPr>
        <p:spPr>
          <a:xfrm>
            <a:off x="819150" y="2105620"/>
            <a:ext cx="3860800" cy="1638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3826470"/>
            <a:ext cx="4028440"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Noto Sans KR</a:t>
            </a:r>
          </a:p>
        </p:txBody>
      </p:sp>
      <p:pic>
        <p:nvPicPr>
          <p:cNvPr id="10" name="Picture 9" descr="font-w2.png"/>
          <p:cNvPicPr>
            <a:picLocks noChangeAspect="1"/>
          </p:cNvPicPr>
          <p:nvPr/>
        </p:nvPicPr>
        <p:blipFill>
          <a:blip r:embed="rId3"/>
          <a:srcRect t="409" b="409"/>
          <a:stretch>
            <a:fillRect/>
          </a:stretch>
        </p:blipFill>
        <p:spPr>
          <a:xfrm>
            <a:off x="825500" y="4067770"/>
            <a:ext cx="3848100" cy="1625600"/>
          </a:xfrm>
          <a:prstGeom prst="rect">
            <a:avLst/>
          </a:prstGeom>
        </p:spPr>
      </p:pic>
      <p:sp>
        <p:nvSpPr>
          <p:cNvPr id="11" name="Rectangle 10"/>
          <p:cNvSpPr/>
          <p:nvPr/>
        </p:nvSpPr>
        <p:spPr>
          <a:xfrm>
            <a:off x="819150" y="4061420"/>
            <a:ext cx="3860800" cy="1638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91100" y="2813645"/>
            <a:ext cx="6643624"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PROBLEM</a:t>
            </a:r>
          </a:p>
        </p:txBody>
      </p:sp>
      <p:sp>
        <p:nvSpPr>
          <p:cNvPr id="13" name="TextBox 12"/>
          <p:cNvSpPr txBox="1"/>
          <p:nvPr/>
        </p:nvSpPr>
        <p:spPr>
          <a:xfrm>
            <a:off x="4991100" y="3080345"/>
            <a:ext cx="66436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고정폭 글꼴이라 한글 제목의 자간이 벌어지고 싸 보였습니다.</a:t>
            </a:r>
          </a:p>
        </p:txBody>
      </p:sp>
      <p:cxnSp>
        <p:nvCxnSpPr>
          <p:cNvPr id="14" name="Connector 13"/>
          <p:cNvCxnSpPr/>
          <p:nvPr/>
        </p:nvCxnSpPr>
        <p:spPr>
          <a:xfrm>
            <a:off x="4991100" y="3486745"/>
            <a:ext cx="63881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91100" y="3607395"/>
            <a:ext cx="6643624"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FIX</a:t>
            </a:r>
          </a:p>
        </p:txBody>
      </p:sp>
      <p:sp>
        <p:nvSpPr>
          <p:cNvPr id="16" name="TextBox 15"/>
          <p:cNvSpPr txBox="1"/>
          <p:nvPr/>
        </p:nvSpPr>
        <p:spPr>
          <a:xfrm>
            <a:off x="5219700" y="3874095"/>
            <a:ext cx="6405880"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표지 제목: Noto Serif KR 900</a:t>
            </a:r>
          </a:p>
        </p:txBody>
      </p:sp>
      <p:sp>
        <p:nvSpPr>
          <p:cNvPr id="17" name="TextBox 16"/>
          <p:cNvSpPr txBox="1"/>
          <p:nvPr/>
        </p:nvSpPr>
        <p:spPr>
          <a:xfrm>
            <a:off x="5219700" y="4159845"/>
            <a:ext cx="6405880"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사건 장 제목·본문·작은 글자: Noto Sans KR</a:t>
            </a:r>
          </a:p>
        </p:txBody>
      </p:sp>
      <p:sp>
        <p:nvSpPr>
          <p:cNvPr id="18" name="TextBox 17"/>
          <p:cNvSpPr txBox="1"/>
          <p:nvPr/>
        </p:nvSpPr>
        <p:spPr>
          <a:xfrm>
            <a:off x="5219700" y="4445595"/>
            <a:ext cx="6405880"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시안 4종을 놓고 비교해 정했습니다</a:t>
            </a:r>
          </a:p>
        </p:txBody>
      </p:sp>
      <p:sp>
        <p:nvSpPr>
          <p:cNvPr id="19" name="TextBox 18"/>
          <p:cNvSpPr txBox="1"/>
          <p:nvPr/>
        </p:nvSpPr>
        <p:spPr>
          <a:xfrm>
            <a:off x="812800" y="6267450"/>
            <a:ext cx="85852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devlog/week-02.md · README.md 「슬라이드」</a:t>
            </a:r>
          </a:p>
        </p:txBody>
      </p:sp>
      <p:sp>
        <p:nvSpPr>
          <p:cNvPr id="20" name="TextBox 19"/>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#04 · LAYOUT</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진행 막대를 달고 이미지 위치를 번갈아 둡니다</a:t>
            </a:r>
          </a:p>
        </p:txBody>
      </p:sp>
      <p:sp>
        <p:nvSpPr>
          <p:cNvPr id="6" name="TextBox 5"/>
          <p:cNvSpPr txBox="1"/>
          <p:nvPr/>
        </p:nvSpPr>
        <p:spPr>
          <a:xfrm>
            <a:off x="812800" y="1838920"/>
            <a:ext cx="2958592"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1번째 사건</a:t>
            </a:r>
          </a:p>
        </p:txBody>
      </p:sp>
      <p:pic>
        <p:nvPicPr>
          <p:cNvPr id="7" name="Picture 6" descr="w2-02.jpg"/>
          <p:cNvPicPr>
            <a:picLocks noChangeAspect="1"/>
          </p:cNvPicPr>
          <p:nvPr/>
        </p:nvPicPr>
        <p:blipFill>
          <a:blip r:embed="rId2"/>
          <a:srcRect l="90" r="90"/>
          <a:stretch>
            <a:fillRect/>
          </a:stretch>
        </p:blipFill>
        <p:spPr>
          <a:xfrm>
            <a:off x="825500" y="2111970"/>
            <a:ext cx="2819400" cy="3530600"/>
          </a:xfrm>
          <a:prstGeom prst="rect">
            <a:avLst/>
          </a:prstGeom>
        </p:spPr>
      </p:pic>
      <p:sp>
        <p:nvSpPr>
          <p:cNvPr id="8" name="Rectangle 7"/>
          <p:cNvSpPr/>
          <p:nvPr/>
        </p:nvSpPr>
        <p:spPr>
          <a:xfrm>
            <a:off x="819150" y="2105620"/>
            <a:ext cx="2832100" cy="3543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35400" y="1838920"/>
            <a:ext cx="2958592"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2번째 사건</a:t>
            </a:r>
          </a:p>
        </p:txBody>
      </p:sp>
      <p:pic>
        <p:nvPicPr>
          <p:cNvPr id="10" name="Picture 9" descr="w2-03.jpg"/>
          <p:cNvPicPr>
            <a:picLocks noChangeAspect="1"/>
          </p:cNvPicPr>
          <p:nvPr/>
        </p:nvPicPr>
        <p:blipFill>
          <a:blip r:embed="rId3"/>
          <a:srcRect l="90" r="90"/>
          <a:stretch>
            <a:fillRect/>
          </a:stretch>
        </p:blipFill>
        <p:spPr>
          <a:xfrm>
            <a:off x="3848100" y="2111970"/>
            <a:ext cx="2819400" cy="3530600"/>
          </a:xfrm>
          <a:prstGeom prst="rect">
            <a:avLst/>
          </a:prstGeom>
        </p:spPr>
      </p:pic>
      <p:sp>
        <p:nvSpPr>
          <p:cNvPr id="11" name="Rectangle 10"/>
          <p:cNvSpPr/>
          <p:nvPr/>
        </p:nvSpPr>
        <p:spPr>
          <a:xfrm>
            <a:off x="3841750" y="2105620"/>
            <a:ext cx="2832100" cy="3543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0" y="2502495"/>
            <a:ext cx="4569968"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PROBLEM</a:t>
            </a:r>
          </a:p>
        </p:txBody>
      </p:sp>
      <p:sp>
        <p:nvSpPr>
          <p:cNvPr id="13" name="TextBox 12"/>
          <p:cNvSpPr txBox="1"/>
          <p:nvPr/>
        </p:nvSpPr>
        <p:spPr>
          <a:xfrm>
            <a:off x="6985000" y="2769195"/>
            <a:ext cx="4569968" cy="571500"/>
          </a:xfrm>
          <a:prstGeom prst="rect">
            <a:avLst/>
          </a:prstGeom>
          <a:noFill/>
        </p:spPr>
        <p:txBody>
          <a:bodyPr wrap="square" lIns="0" tIns="0" rIns="0" bIns="0" anchor="t"/>
          <a:lstStyle/>
          <a:p>
            <a:pPr algn="l">
              <a:lnSpc>
                <a:spcPct val="124500"/>
              </a:lnSpc>
            </a:pPr>
            <a:r>
              <a:rPr sz="1500" b="0">
                <a:solidFill>
                  <a:srgbClr val="E9E1CF"/>
                </a:solidFill>
                <a:latin typeface="Nanum Gothic Coding"/>
                <a:ea typeface="Nanum Gothic Coding"/>
                <a:cs typeface="Nanum Gothic Coding"/>
              </a:rPr>
              <a:t>넘기다 보면 몇 번째 사건인지 모르고, 장마다 구도가 같아 지루했습니다.</a:t>
            </a:r>
          </a:p>
        </p:txBody>
      </p:sp>
      <p:cxnSp>
        <p:nvCxnSpPr>
          <p:cNvPr id="14" name="Connector 13"/>
          <p:cNvCxnSpPr/>
          <p:nvPr/>
        </p:nvCxnSpPr>
        <p:spPr>
          <a:xfrm>
            <a:off x="6985000" y="3461345"/>
            <a:ext cx="43942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985000" y="3581995"/>
            <a:ext cx="4569968"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FIX</a:t>
            </a:r>
          </a:p>
        </p:txBody>
      </p:sp>
      <p:sp>
        <p:nvSpPr>
          <p:cNvPr id="16" name="TextBox 15"/>
          <p:cNvSpPr txBox="1"/>
          <p:nvPr/>
        </p:nvSpPr>
        <p:spPr>
          <a:xfrm>
            <a:off x="7213600" y="3848695"/>
            <a:ext cx="43322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맨 위 얇은 막대가 한 칸씩 레드로 찹니다</a:t>
            </a:r>
          </a:p>
        </p:txBody>
      </p:sp>
      <p:sp>
        <p:nvSpPr>
          <p:cNvPr id="17" name="TextBox 16"/>
          <p:cNvSpPr txBox="1"/>
          <p:nvPr/>
        </p:nvSpPr>
        <p:spPr>
          <a:xfrm>
            <a:off x="7213600" y="4134445"/>
            <a:ext cx="43322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홀수 장은 이미지 위, 짝수 장은 아래</a:t>
            </a:r>
          </a:p>
        </p:txBody>
      </p:sp>
      <p:sp>
        <p:nvSpPr>
          <p:cNvPr id="18" name="TextBox 17"/>
          <p:cNvSpPr txBox="1"/>
          <p:nvPr/>
        </p:nvSpPr>
        <p:spPr>
          <a:xfrm>
            <a:off x="7213600" y="4420195"/>
            <a:ext cx="43322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빨간 분류 태그는 없앴습니다</a:t>
            </a:r>
          </a:p>
        </p:txBody>
      </p:sp>
      <p:sp>
        <p:nvSpPr>
          <p:cNvPr id="19" name="TextBox 18"/>
          <p:cNvSpPr txBox="1"/>
          <p:nvPr/>
        </p:nvSpPr>
        <p:spPr>
          <a:xfrm>
            <a:off x="7213600" y="4705945"/>
            <a:ext cx="433222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CASE·국가·날짜는 늘 위 가운데</a:t>
            </a:r>
          </a:p>
        </p:txBody>
      </p:sp>
      <p:sp>
        <p:nvSpPr>
          <p:cNvPr id="20" name="TextBox 19"/>
          <p:cNvSpPr txBox="1"/>
          <p:nvPr/>
        </p:nvSpPr>
        <p:spPr>
          <a:xfrm>
            <a:off x="812800" y="6299200"/>
            <a:ext cx="85852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devlog/week-02.md · design/file-02.html</a:t>
            </a:r>
          </a:p>
        </p:txBody>
      </p:sp>
      <p:sp>
        <p:nvSpPr>
          <p:cNvPr id="21" name="TextBox 20"/>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#05 · COPY</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출처 줄과 행동 팁을 슬라이드에서 뺐습니다</a:t>
            </a:r>
          </a:p>
        </p:txBody>
      </p:sp>
      <p:sp>
        <p:nvSpPr>
          <p:cNvPr id="6" name="TextBox 5"/>
          <p:cNvSpPr txBox="1"/>
          <p:nvPr/>
        </p:nvSpPr>
        <p:spPr>
          <a:xfrm>
            <a:off x="812800" y="1838920"/>
            <a:ext cx="2958592"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WEEK 1 · 1문장 + → + SRC</a:t>
            </a:r>
          </a:p>
        </p:txBody>
      </p:sp>
      <p:pic>
        <p:nvPicPr>
          <p:cNvPr id="7" name="Picture 6" descr="w1-03.jpg"/>
          <p:cNvPicPr>
            <a:picLocks noChangeAspect="1"/>
          </p:cNvPicPr>
          <p:nvPr/>
        </p:nvPicPr>
        <p:blipFill>
          <a:blip r:embed="rId2"/>
          <a:srcRect l="90" r="90"/>
          <a:stretch>
            <a:fillRect/>
          </a:stretch>
        </p:blipFill>
        <p:spPr>
          <a:xfrm>
            <a:off x="825500" y="2111970"/>
            <a:ext cx="2819400" cy="3530600"/>
          </a:xfrm>
          <a:prstGeom prst="rect">
            <a:avLst/>
          </a:prstGeom>
        </p:spPr>
      </p:pic>
      <p:sp>
        <p:nvSpPr>
          <p:cNvPr id="8" name="Rectangle 7"/>
          <p:cNvSpPr/>
          <p:nvPr/>
        </p:nvSpPr>
        <p:spPr>
          <a:xfrm>
            <a:off x="819150" y="2105620"/>
            <a:ext cx="2832100" cy="3543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35400" y="3569295"/>
            <a:ext cx="369824" cy="355600"/>
          </a:xfrm>
          <a:prstGeom prst="rect">
            <a:avLst/>
          </a:prstGeom>
          <a:noFill/>
        </p:spPr>
        <p:txBody>
          <a:bodyPr wrap="none" lIns="0" tIns="0" rIns="0" bIns="0" anchor="t"/>
          <a:lstStyle/>
          <a:p>
            <a:pPr algn="l"/>
            <a:r>
              <a:rPr sz="2800" b="0">
                <a:solidFill>
                  <a:srgbClr val="E5503F"/>
                </a:solidFill>
                <a:latin typeface="Nanum Gothic Coding"/>
                <a:ea typeface="Nanum Gothic Coding"/>
                <a:cs typeface="Nanum Gothic Coding"/>
              </a:rPr>
              <a:t>→</a:t>
            </a:r>
          </a:p>
        </p:txBody>
      </p:sp>
      <p:sp>
        <p:nvSpPr>
          <p:cNvPr id="10" name="TextBox 9"/>
          <p:cNvSpPr txBox="1"/>
          <p:nvPr/>
        </p:nvSpPr>
        <p:spPr>
          <a:xfrm>
            <a:off x="4368800" y="1838920"/>
            <a:ext cx="2958592"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본문 2~4문장</a:t>
            </a:r>
          </a:p>
        </p:txBody>
      </p:sp>
      <p:pic>
        <p:nvPicPr>
          <p:cNvPr id="11" name="Picture 10" descr="w2-02.jpg"/>
          <p:cNvPicPr>
            <a:picLocks noChangeAspect="1"/>
          </p:cNvPicPr>
          <p:nvPr/>
        </p:nvPicPr>
        <p:blipFill>
          <a:blip r:embed="rId3"/>
          <a:srcRect l="90" r="90"/>
          <a:stretch>
            <a:fillRect/>
          </a:stretch>
        </p:blipFill>
        <p:spPr>
          <a:xfrm>
            <a:off x="4381500" y="2111970"/>
            <a:ext cx="2819400" cy="3530600"/>
          </a:xfrm>
          <a:prstGeom prst="rect">
            <a:avLst/>
          </a:prstGeom>
        </p:spPr>
      </p:pic>
      <p:sp>
        <p:nvSpPr>
          <p:cNvPr id="12" name="Rectangle 11"/>
          <p:cNvSpPr/>
          <p:nvPr/>
        </p:nvSpPr>
        <p:spPr>
          <a:xfrm>
            <a:off x="4375150" y="2105620"/>
            <a:ext cx="2832100" cy="3543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3000" y="2788245"/>
            <a:ext cx="4041648"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PROBLEM</a:t>
            </a:r>
          </a:p>
        </p:txBody>
      </p:sp>
      <p:sp>
        <p:nvSpPr>
          <p:cNvPr id="14" name="TextBox 13"/>
          <p:cNvSpPr txBox="1"/>
          <p:nvPr/>
        </p:nvSpPr>
        <p:spPr>
          <a:xfrm>
            <a:off x="7493000" y="3054945"/>
            <a:ext cx="4041648" cy="571500"/>
          </a:xfrm>
          <a:prstGeom prst="rect">
            <a:avLst/>
          </a:prstGeom>
          <a:noFill/>
        </p:spPr>
        <p:txBody>
          <a:bodyPr wrap="square" lIns="0" tIns="0" rIns="0" bIns="0" anchor="t"/>
          <a:lstStyle/>
          <a:p>
            <a:pPr algn="l">
              <a:lnSpc>
                <a:spcPct val="124500"/>
              </a:lnSpc>
            </a:pPr>
            <a:r>
              <a:rPr sz="1500" b="0">
                <a:solidFill>
                  <a:srgbClr val="E9E1CF"/>
                </a:solidFill>
                <a:latin typeface="Nanum Gothic Coding"/>
                <a:ea typeface="Nanum Gothic Coding"/>
                <a:cs typeface="Nanum Gothic Coding"/>
              </a:rPr>
              <a:t>SRC 줄과 ‘→’ 행동 줄이 자리를 먹어 본문이 한 문장뿐이었습니다.</a:t>
            </a:r>
          </a:p>
        </p:txBody>
      </p:sp>
      <p:cxnSp>
        <p:nvCxnSpPr>
          <p:cNvPr id="15" name="Connector 14"/>
          <p:cNvCxnSpPr/>
          <p:nvPr/>
        </p:nvCxnSpPr>
        <p:spPr>
          <a:xfrm>
            <a:off x="7493000" y="3747095"/>
            <a:ext cx="38862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3000" y="3867745"/>
            <a:ext cx="4041648"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FIX</a:t>
            </a:r>
          </a:p>
        </p:txBody>
      </p:sp>
      <p:sp>
        <p:nvSpPr>
          <p:cNvPr id="17" name="TextBox 16"/>
          <p:cNvSpPr txBox="1"/>
          <p:nvPr/>
        </p:nvSpPr>
        <p:spPr>
          <a:xfrm>
            <a:off x="7721600" y="4134445"/>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출처는 캡션에, 1차 출처 원본 링크만</a:t>
            </a:r>
          </a:p>
        </p:txBody>
      </p:sp>
      <p:sp>
        <p:nvSpPr>
          <p:cNvPr id="18" name="TextBox 17"/>
          <p:cNvSpPr txBox="1"/>
          <p:nvPr/>
        </p:nvSpPr>
        <p:spPr>
          <a:xfrm>
            <a:off x="7721600" y="4420195"/>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행동 팁은 어디에도 쓰지 않습니다</a:t>
            </a:r>
          </a:p>
        </p:txBody>
      </p:sp>
      <p:sp>
        <p:nvSpPr>
          <p:cNvPr id="19" name="TextBox 18"/>
          <p:cNvSpPr txBox="1"/>
          <p:nvPr/>
        </p:nvSpPr>
        <p:spPr>
          <a:xfrm>
            <a:off x="812800" y="6267450"/>
            <a:ext cx="85852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devlog/week-02.md 「원고」</a:t>
            </a:r>
          </a:p>
        </p:txBody>
      </p:sp>
      <p:sp>
        <p:nvSpPr>
          <p:cNvPr id="20" name="TextBox 19"/>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#06 · TONE</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보고서체를 해요체로 바꾸고 끝맺음을 다듬었습니다</a:t>
            </a:r>
          </a:p>
        </p:txBody>
      </p:sp>
      <p:sp>
        <p:nvSpPr>
          <p:cNvPr id="6" name="TextBox 5"/>
          <p:cNvSpPr txBox="1"/>
          <p:nvPr/>
        </p:nvSpPr>
        <p:spPr>
          <a:xfrm>
            <a:off x="2540000" y="1838920"/>
            <a:ext cx="316992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BEFORE · 보고서체</a:t>
            </a:r>
          </a:p>
        </p:txBody>
      </p:sp>
      <p:pic>
        <p:nvPicPr>
          <p:cNvPr id="7" name="Picture 6" descr="tone-before.png"/>
          <p:cNvPicPr>
            <a:picLocks noChangeAspect="1"/>
          </p:cNvPicPr>
          <p:nvPr/>
        </p:nvPicPr>
        <p:blipFill>
          <a:blip r:embed="rId2"/>
          <a:stretch>
            <a:fillRect/>
          </a:stretch>
        </p:blipFill>
        <p:spPr>
          <a:xfrm>
            <a:off x="2552700" y="2115145"/>
            <a:ext cx="3022600" cy="3778250"/>
          </a:xfrm>
          <a:prstGeom prst="rect">
            <a:avLst/>
          </a:prstGeom>
        </p:spPr>
      </p:pic>
      <p:sp>
        <p:nvSpPr>
          <p:cNvPr id="8" name="Rectangle 7"/>
          <p:cNvSpPr/>
          <p:nvPr/>
        </p:nvSpPr>
        <p:spPr>
          <a:xfrm>
            <a:off x="2546350" y="2105620"/>
            <a:ext cx="3035300" cy="3797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92800" y="3670895"/>
            <a:ext cx="422656" cy="406400"/>
          </a:xfrm>
          <a:prstGeom prst="rect">
            <a:avLst/>
          </a:prstGeom>
          <a:noFill/>
        </p:spPr>
        <p:txBody>
          <a:bodyPr wrap="none" lIns="0" tIns="0" rIns="0" bIns="0" anchor="t"/>
          <a:lstStyle/>
          <a:p>
            <a:pPr algn="l"/>
            <a:r>
              <a:rPr sz="3200" b="0">
                <a:solidFill>
                  <a:srgbClr val="E5503F"/>
                </a:solidFill>
                <a:latin typeface="Nanum Gothic Coding"/>
                <a:ea typeface="Nanum Gothic Coding"/>
                <a:cs typeface="Nanum Gothic Coding"/>
              </a:rPr>
              <a:t>→</a:t>
            </a:r>
          </a:p>
        </p:txBody>
      </p:sp>
      <p:sp>
        <p:nvSpPr>
          <p:cNvPr id="10" name="TextBox 9"/>
          <p:cNvSpPr txBox="1"/>
          <p:nvPr/>
        </p:nvSpPr>
        <p:spPr>
          <a:xfrm>
            <a:off x="6604000" y="1838920"/>
            <a:ext cx="3169920"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AFTER · 해요체 윤문</a:t>
            </a:r>
          </a:p>
        </p:txBody>
      </p:sp>
      <p:pic>
        <p:nvPicPr>
          <p:cNvPr id="11" name="Picture 10" descr="tone-after.png"/>
          <p:cNvPicPr>
            <a:picLocks noChangeAspect="1"/>
          </p:cNvPicPr>
          <p:nvPr/>
        </p:nvPicPr>
        <p:blipFill>
          <a:blip r:embed="rId3"/>
          <a:stretch>
            <a:fillRect/>
          </a:stretch>
        </p:blipFill>
        <p:spPr>
          <a:xfrm>
            <a:off x="6616700" y="2115145"/>
            <a:ext cx="3022600" cy="3778250"/>
          </a:xfrm>
          <a:prstGeom prst="rect">
            <a:avLst/>
          </a:prstGeom>
        </p:spPr>
      </p:pic>
      <p:sp>
        <p:nvSpPr>
          <p:cNvPr id="12" name="Rectangle 11"/>
          <p:cNvSpPr/>
          <p:nvPr/>
        </p:nvSpPr>
        <p:spPr>
          <a:xfrm>
            <a:off x="6610350" y="2105620"/>
            <a:ext cx="3035300" cy="3797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6267450"/>
            <a:ext cx="85852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devlog/week-02.md 「원고」 · humanize-korean 진단</a:t>
            </a:r>
          </a:p>
        </p:txBody>
      </p:sp>
      <p:sp>
        <p:nvSpPr>
          <p:cNvPr id="14" name="TextBox 13"/>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#07 · IMAGE</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실제 이미지를 먼저 쓰고, 없으면 생성합니다</a:t>
            </a:r>
          </a:p>
        </p:txBody>
      </p:sp>
      <p:sp>
        <p:nvSpPr>
          <p:cNvPr id="6" name="TextBox 5"/>
          <p:cNvSpPr txBox="1"/>
          <p:nvPr/>
        </p:nvSpPr>
        <p:spPr>
          <a:xfrm>
            <a:off x="812800" y="1838920"/>
            <a:ext cx="2958592"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WEEK 1 · 전부 생성</a:t>
            </a:r>
          </a:p>
        </p:txBody>
      </p:sp>
      <p:pic>
        <p:nvPicPr>
          <p:cNvPr id="7" name="Picture 6" descr="w1-04.jpg"/>
          <p:cNvPicPr>
            <a:picLocks noChangeAspect="1"/>
          </p:cNvPicPr>
          <p:nvPr/>
        </p:nvPicPr>
        <p:blipFill>
          <a:blip r:embed="rId2"/>
          <a:srcRect l="90" r="90"/>
          <a:stretch>
            <a:fillRect/>
          </a:stretch>
        </p:blipFill>
        <p:spPr>
          <a:xfrm>
            <a:off x="825500" y="2111970"/>
            <a:ext cx="2819400" cy="3530600"/>
          </a:xfrm>
          <a:prstGeom prst="rect">
            <a:avLst/>
          </a:prstGeom>
        </p:spPr>
      </p:pic>
      <p:sp>
        <p:nvSpPr>
          <p:cNvPr id="8" name="Rectangle 7"/>
          <p:cNvSpPr/>
          <p:nvPr/>
        </p:nvSpPr>
        <p:spPr>
          <a:xfrm>
            <a:off x="819150" y="2105620"/>
            <a:ext cx="2832100" cy="3543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35400" y="3569295"/>
            <a:ext cx="369824" cy="355600"/>
          </a:xfrm>
          <a:prstGeom prst="rect">
            <a:avLst/>
          </a:prstGeom>
          <a:noFill/>
        </p:spPr>
        <p:txBody>
          <a:bodyPr wrap="none" lIns="0" tIns="0" rIns="0" bIns="0" anchor="t"/>
          <a:lstStyle/>
          <a:p>
            <a:pPr algn="l"/>
            <a:r>
              <a:rPr sz="2800" b="0">
                <a:solidFill>
                  <a:srgbClr val="E5503F"/>
                </a:solidFill>
                <a:latin typeface="Nanum Gothic Coding"/>
                <a:ea typeface="Nanum Gothic Coding"/>
                <a:cs typeface="Nanum Gothic Coding"/>
              </a:rPr>
              <a:t>→</a:t>
            </a:r>
          </a:p>
        </p:txBody>
      </p:sp>
      <p:sp>
        <p:nvSpPr>
          <p:cNvPr id="10" name="TextBox 9"/>
          <p:cNvSpPr txBox="1"/>
          <p:nvPr/>
        </p:nvSpPr>
        <p:spPr>
          <a:xfrm>
            <a:off x="4368800" y="1838920"/>
            <a:ext cx="2958592"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검찰 보도자료 화면</a:t>
            </a:r>
          </a:p>
        </p:txBody>
      </p:sp>
      <p:pic>
        <p:nvPicPr>
          <p:cNvPr id="11" name="Picture 10" descr="w2-05.jpg"/>
          <p:cNvPicPr>
            <a:picLocks noChangeAspect="1"/>
          </p:cNvPicPr>
          <p:nvPr/>
        </p:nvPicPr>
        <p:blipFill>
          <a:blip r:embed="rId3"/>
          <a:srcRect l="90" r="90"/>
          <a:stretch>
            <a:fillRect/>
          </a:stretch>
        </p:blipFill>
        <p:spPr>
          <a:xfrm>
            <a:off x="4381500" y="2111970"/>
            <a:ext cx="2819400" cy="3530600"/>
          </a:xfrm>
          <a:prstGeom prst="rect">
            <a:avLst/>
          </a:prstGeom>
        </p:spPr>
      </p:pic>
      <p:sp>
        <p:nvSpPr>
          <p:cNvPr id="12" name="Rectangle 11"/>
          <p:cNvSpPr/>
          <p:nvPr/>
        </p:nvSpPr>
        <p:spPr>
          <a:xfrm>
            <a:off x="4375150" y="2105620"/>
            <a:ext cx="2832100" cy="3543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3000" y="2645370"/>
            <a:ext cx="4041648"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PROBLEM</a:t>
            </a:r>
          </a:p>
        </p:txBody>
      </p:sp>
      <p:sp>
        <p:nvSpPr>
          <p:cNvPr id="14" name="TextBox 13"/>
          <p:cNvSpPr txBox="1"/>
          <p:nvPr/>
        </p:nvSpPr>
        <p:spPr>
          <a:xfrm>
            <a:off x="7493000" y="2912070"/>
            <a:ext cx="4041648" cy="571500"/>
          </a:xfrm>
          <a:prstGeom prst="rect">
            <a:avLst/>
          </a:prstGeom>
          <a:noFill/>
        </p:spPr>
        <p:txBody>
          <a:bodyPr wrap="square" lIns="0" tIns="0" rIns="0" bIns="0" anchor="t"/>
          <a:lstStyle/>
          <a:p>
            <a:pPr algn="l">
              <a:lnSpc>
                <a:spcPct val="124500"/>
              </a:lnSpc>
            </a:pPr>
            <a:r>
              <a:rPr sz="1500" b="0">
                <a:solidFill>
                  <a:srgbClr val="E9E1CF"/>
                </a:solidFill>
                <a:latin typeface="Nanum Gothic Coding"/>
                <a:ea typeface="Nanum Gothic Coding"/>
                <a:cs typeface="Nanum Gothic Coding"/>
              </a:rPr>
              <a:t>생성 이미지가 로봇·거미 같은 은유로 흘러 사건과 따로 놀았습니다.</a:t>
            </a:r>
          </a:p>
        </p:txBody>
      </p:sp>
      <p:cxnSp>
        <p:nvCxnSpPr>
          <p:cNvPr id="15" name="Connector 14"/>
          <p:cNvCxnSpPr/>
          <p:nvPr/>
        </p:nvCxnSpPr>
        <p:spPr>
          <a:xfrm>
            <a:off x="7493000" y="3604220"/>
            <a:ext cx="38862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3000" y="3724870"/>
            <a:ext cx="4041648"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FIX</a:t>
            </a:r>
          </a:p>
        </p:txBody>
      </p:sp>
      <p:sp>
        <p:nvSpPr>
          <p:cNvPr id="17" name="TextBox 16"/>
          <p:cNvSpPr txBox="1"/>
          <p:nvPr/>
        </p:nvSpPr>
        <p:spPr>
          <a:xfrm>
            <a:off x="7721600" y="3991570"/>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1차 출처의 이미지를 먼저 씁니다</a:t>
            </a:r>
          </a:p>
        </p:txBody>
      </p:sp>
      <p:sp>
        <p:nvSpPr>
          <p:cNvPr id="18" name="TextBox 17"/>
          <p:cNvSpPr txBox="1"/>
          <p:nvPr/>
        </p:nvSpPr>
        <p:spPr>
          <a:xfrm>
            <a:off x="7721600" y="4277320"/>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공공누리·CC·문서 캡처만 가져옵니다</a:t>
            </a:r>
          </a:p>
        </p:txBody>
      </p:sp>
      <p:sp>
        <p:nvSpPr>
          <p:cNvPr id="19" name="TextBox 18"/>
          <p:cNvSpPr txBox="1"/>
          <p:nvPr/>
        </p:nvSpPr>
        <p:spPr>
          <a:xfrm>
            <a:off x="7721600" y="4563070"/>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생성한 장은 ‘AI 생성 이미지’ 표기</a:t>
            </a:r>
          </a:p>
        </p:txBody>
      </p:sp>
      <p:sp>
        <p:nvSpPr>
          <p:cNvPr id="20" name="TextBox 19"/>
          <p:cNvSpPr txBox="1"/>
          <p:nvPr/>
        </p:nvSpPr>
        <p:spPr>
          <a:xfrm>
            <a:off x="812800" y="6267450"/>
            <a:ext cx="8585200"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devlog/week-02.md 「이미지」 · phantom-images</a:t>
            </a:r>
          </a:p>
        </p:txBody>
      </p:sp>
      <p:sp>
        <p:nvSpPr>
          <p:cNvPr id="21" name="TextBox 20"/>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CHANGE #08 · LAST PAGE</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1117600"/>
            <a:ext cx="10989056" cy="467320"/>
          </a:xfrm>
          <a:prstGeom prst="rect">
            <a:avLst/>
          </a:prstGeom>
          <a:noFill/>
        </p:spPr>
        <p:txBody>
          <a:bodyPr wrap="none" lIns="0" tIns="0" rIns="0" bIns="0" anchor="t"/>
          <a:lstStyle/>
          <a:p>
            <a:pPr algn="l">
              <a:lnSpc>
                <a:spcPct val="95450"/>
              </a:lnSpc>
            </a:pPr>
            <a:r>
              <a:rPr sz="3200" b="1">
                <a:solidFill>
                  <a:srgbClr val="E9E1CF"/>
                </a:solidFill>
                <a:latin typeface="Nanum Gothic Coding"/>
                <a:ea typeface="Nanum Gothic Coding"/>
                <a:cs typeface="Nanum Gothic Coding"/>
              </a:rPr>
              <a:t>마지막 장을 팔로우 장으로 바꿨습니다</a:t>
            </a:r>
          </a:p>
        </p:txBody>
      </p:sp>
      <p:sp>
        <p:nvSpPr>
          <p:cNvPr id="6" name="TextBox 5"/>
          <p:cNvSpPr txBox="1"/>
          <p:nvPr/>
        </p:nvSpPr>
        <p:spPr>
          <a:xfrm>
            <a:off x="812800" y="1838920"/>
            <a:ext cx="2958592" cy="18415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WEEK 1 · 마무리 문구</a:t>
            </a:r>
          </a:p>
        </p:txBody>
      </p:sp>
      <p:pic>
        <p:nvPicPr>
          <p:cNvPr id="7" name="Picture 6" descr="w1-08.jpg"/>
          <p:cNvPicPr>
            <a:picLocks noChangeAspect="1"/>
          </p:cNvPicPr>
          <p:nvPr/>
        </p:nvPicPr>
        <p:blipFill>
          <a:blip r:embed="rId2"/>
          <a:srcRect l="90" r="90"/>
          <a:stretch>
            <a:fillRect/>
          </a:stretch>
        </p:blipFill>
        <p:spPr>
          <a:xfrm>
            <a:off x="825500" y="2111970"/>
            <a:ext cx="2819400" cy="3530600"/>
          </a:xfrm>
          <a:prstGeom prst="rect">
            <a:avLst/>
          </a:prstGeom>
        </p:spPr>
      </p:pic>
      <p:sp>
        <p:nvSpPr>
          <p:cNvPr id="8" name="Rectangle 7"/>
          <p:cNvSpPr/>
          <p:nvPr/>
        </p:nvSpPr>
        <p:spPr>
          <a:xfrm>
            <a:off x="819150" y="2105620"/>
            <a:ext cx="2832100" cy="3543300"/>
          </a:xfrm>
          <a:prstGeom prst="rect">
            <a:avLst/>
          </a:prstGeom>
          <a:noFill/>
          <a:ln w="12700">
            <a:solidFill>
              <a:srgbClr val="3D3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35400" y="3569295"/>
            <a:ext cx="369824" cy="355600"/>
          </a:xfrm>
          <a:prstGeom prst="rect">
            <a:avLst/>
          </a:prstGeom>
          <a:noFill/>
        </p:spPr>
        <p:txBody>
          <a:bodyPr wrap="none" lIns="0" tIns="0" rIns="0" bIns="0" anchor="t"/>
          <a:lstStyle/>
          <a:p>
            <a:pPr algn="l"/>
            <a:r>
              <a:rPr sz="2800" b="0">
                <a:solidFill>
                  <a:srgbClr val="E5503F"/>
                </a:solidFill>
                <a:latin typeface="Nanum Gothic Coding"/>
                <a:ea typeface="Nanum Gothic Coding"/>
                <a:cs typeface="Nanum Gothic Coding"/>
              </a:rPr>
              <a:t>→</a:t>
            </a:r>
          </a:p>
        </p:txBody>
      </p:sp>
      <p:sp>
        <p:nvSpPr>
          <p:cNvPr id="10" name="TextBox 9"/>
          <p:cNvSpPr txBox="1"/>
          <p:nvPr/>
        </p:nvSpPr>
        <p:spPr>
          <a:xfrm>
            <a:off x="4368800" y="1838920"/>
            <a:ext cx="2958592" cy="18415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WEEK 2 · 팔로우 장</a:t>
            </a:r>
          </a:p>
        </p:txBody>
      </p:sp>
      <p:pic>
        <p:nvPicPr>
          <p:cNvPr id="11" name="Picture 10" descr="w2-07.jpg"/>
          <p:cNvPicPr>
            <a:picLocks noChangeAspect="1"/>
          </p:cNvPicPr>
          <p:nvPr/>
        </p:nvPicPr>
        <p:blipFill>
          <a:blip r:embed="rId3"/>
          <a:srcRect l="90" r="90"/>
          <a:stretch>
            <a:fillRect/>
          </a:stretch>
        </p:blipFill>
        <p:spPr>
          <a:xfrm>
            <a:off x="4381500" y="2111970"/>
            <a:ext cx="2819400" cy="3530600"/>
          </a:xfrm>
          <a:prstGeom prst="rect">
            <a:avLst/>
          </a:prstGeom>
        </p:spPr>
      </p:pic>
      <p:sp>
        <p:nvSpPr>
          <p:cNvPr id="12" name="Rectangle 11"/>
          <p:cNvSpPr/>
          <p:nvPr/>
        </p:nvSpPr>
        <p:spPr>
          <a:xfrm>
            <a:off x="4375150" y="2105620"/>
            <a:ext cx="2832100" cy="3543300"/>
          </a:xfrm>
          <a:prstGeom prst="rect">
            <a:avLst/>
          </a:prstGeom>
          <a:noFill/>
          <a:ln w="12700">
            <a:solidFill>
              <a:srgbClr val="E550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3000" y="2645370"/>
            <a:ext cx="4041648"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PROBLEM</a:t>
            </a:r>
          </a:p>
        </p:txBody>
      </p:sp>
      <p:sp>
        <p:nvSpPr>
          <p:cNvPr id="14" name="TextBox 13"/>
          <p:cNvSpPr txBox="1"/>
          <p:nvPr/>
        </p:nvSpPr>
        <p:spPr>
          <a:xfrm>
            <a:off x="7493000" y="2912070"/>
            <a:ext cx="4041648" cy="571500"/>
          </a:xfrm>
          <a:prstGeom prst="rect">
            <a:avLst/>
          </a:prstGeom>
          <a:noFill/>
        </p:spPr>
        <p:txBody>
          <a:bodyPr wrap="square" lIns="0" tIns="0" rIns="0" bIns="0" anchor="t"/>
          <a:lstStyle/>
          <a:p>
            <a:pPr algn="l">
              <a:lnSpc>
                <a:spcPct val="124500"/>
              </a:lnSpc>
            </a:pPr>
            <a:r>
              <a:rPr sz="1500" b="0">
                <a:solidFill>
                  <a:srgbClr val="E9E1CF"/>
                </a:solidFill>
                <a:latin typeface="Nanum Gothic Coding"/>
                <a:ea typeface="Nanum Gothic Coding"/>
                <a:cs typeface="Nanum Gothic Coding"/>
              </a:rPr>
              <a:t>‘저장하고 공유하세요’ 문구뿐이라 다 본 사람이 할 일이 없었습니다.</a:t>
            </a:r>
          </a:p>
        </p:txBody>
      </p:sp>
      <p:cxnSp>
        <p:nvCxnSpPr>
          <p:cNvPr id="15" name="Connector 14"/>
          <p:cNvCxnSpPr/>
          <p:nvPr/>
        </p:nvCxnSpPr>
        <p:spPr>
          <a:xfrm>
            <a:off x="7493000" y="3604220"/>
            <a:ext cx="38862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3000" y="3724870"/>
            <a:ext cx="4041648" cy="152400"/>
          </a:xfrm>
          <a:prstGeom prst="rect">
            <a:avLst/>
          </a:prstGeom>
          <a:noFill/>
        </p:spPr>
        <p:txBody>
          <a:bodyPr wrap="none" lIns="0" tIns="0" rIns="0" bIns="0" anchor="t"/>
          <a:lstStyle/>
          <a:p>
            <a:pPr algn="l"/>
            <a:r>
              <a:rPr sz="1200" b="0" spc="100">
                <a:solidFill>
                  <a:srgbClr val="E5503F"/>
                </a:solidFill>
                <a:latin typeface="Special Elite"/>
                <a:ea typeface="Nanum Gothic Coding"/>
                <a:cs typeface="Nanum Gothic Coding"/>
              </a:rPr>
              <a:t>FIX</a:t>
            </a:r>
          </a:p>
        </p:txBody>
      </p:sp>
      <p:sp>
        <p:nvSpPr>
          <p:cNvPr id="17" name="TextBox 16"/>
          <p:cNvSpPr txBox="1"/>
          <p:nvPr/>
        </p:nvSpPr>
        <p:spPr>
          <a:xfrm>
            <a:off x="7721600" y="3991570"/>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마스코트 프로필 카드 + 팔로우 버튼</a:t>
            </a:r>
          </a:p>
        </p:txBody>
      </p:sp>
      <p:sp>
        <p:nvSpPr>
          <p:cNvPr id="18" name="TextBox 17"/>
          <p:cNvSpPr txBox="1"/>
          <p:nvPr/>
        </p:nvSpPr>
        <p:spPr>
          <a:xfrm>
            <a:off x="7721600" y="4277320"/>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폰 속 프로필에 그 주 사건 이미지</a:t>
            </a:r>
          </a:p>
        </p:txBody>
      </p:sp>
      <p:sp>
        <p:nvSpPr>
          <p:cNvPr id="19" name="TextBox 18"/>
          <p:cNvSpPr txBox="1"/>
          <p:nvPr/>
        </p:nvSpPr>
        <p:spPr>
          <a:xfrm>
            <a:off x="7721600" y="4563070"/>
            <a:ext cx="3803904" cy="285750"/>
          </a:xfrm>
          <a:prstGeom prst="rect">
            <a:avLst/>
          </a:prstGeom>
          <a:noFill/>
        </p:spPr>
        <p:txBody>
          <a:bodyPr wrap="none" lIns="0" tIns="0" rIns="0" bIns="0" anchor="t"/>
          <a:lstStyle/>
          <a:p>
            <a:pPr algn="l">
              <a:lnSpc>
                <a:spcPct val="124500"/>
              </a:lnSpc>
            </a:pPr>
            <a:r>
              <a:rPr sz="1500" b="0">
                <a:solidFill>
                  <a:srgbClr val="E9E1CF"/>
                </a:solidFill>
                <a:latin typeface="Nanum Gothic Coding"/>
                <a:ea typeface="Nanum Gothic Coding"/>
                <a:cs typeface="Nanum Gothic Coding"/>
              </a:rPr>
              <a:t>• 틀은 매주 같고, 계정은 @phantom_report</a:t>
            </a:r>
          </a:p>
        </p:txBody>
      </p:sp>
      <p:sp>
        <p:nvSpPr>
          <p:cNvPr id="20" name="TextBox 19"/>
          <p:cNvSpPr txBox="1"/>
          <p:nvPr/>
        </p:nvSpPr>
        <p:spPr>
          <a:xfrm>
            <a:off x="812800" y="6299200"/>
            <a:ext cx="85852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SRC: devlog/week-02.md · design/img/brand/phantom.png</a:t>
            </a:r>
          </a:p>
        </p:txBody>
      </p:sp>
      <p:sp>
        <p:nvSpPr>
          <p:cNvPr id="21" name="TextBox 20"/>
          <p:cNvSpPr txBox="1"/>
          <p:nvPr/>
        </p:nvSpPr>
        <p:spPr>
          <a:xfrm>
            <a:off x="10058400" y="6299200"/>
            <a:ext cx="132080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6604000" cy="165100"/>
          </a:xfrm>
          <a:prstGeom prst="rect">
            <a:avLst/>
          </a:prstGeom>
          <a:noFill/>
        </p:spPr>
        <p:txBody>
          <a:bodyPr wrap="none" lIns="0" tIns="0" rIns="0" bIns="0" anchor="t"/>
          <a:lstStyle/>
          <a:p>
            <a:pPr algn="l"/>
            <a:r>
              <a:rPr sz="1300" b="0" spc="150">
                <a:solidFill>
                  <a:srgbClr val="E5503F"/>
                </a:solidFill>
                <a:latin typeface="Special Elite"/>
                <a:ea typeface="Nanum Gothic Coding"/>
                <a:cs typeface="Nanum Gothic Coding"/>
              </a:rPr>
              <a:t>END OF REPORT</a:t>
            </a:r>
          </a:p>
        </p:txBody>
      </p:sp>
      <p:sp>
        <p:nvSpPr>
          <p:cNvPr id="3" name="TextBox 2"/>
          <p:cNvSpPr txBox="1"/>
          <p:nvPr/>
        </p:nvSpPr>
        <p:spPr>
          <a:xfrm>
            <a:off x="9398000" y="406400"/>
            <a:ext cx="1981200" cy="165100"/>
          </a:xfrm>
          <a:prstGeom prst="rect">
            <a:avLst/>
          </a:prstGeom>
          <a:noFill/>
        </p:spPr>
        <p:txBody>
          <a:bodyPr wrap="none" lIns="0" tIns="0" rIns="0" bIns="0" anchor="t"/>
          <a:lstStyle/>
          <a:p>
            <a:pPr algn="r"/>
            <a:r>
              <a:rPr sz="1300" b="0" spc="150">
                <a:solidFill>
                  <a:srgbClr val="A99F8A"/>
                </a:solidFill>
                <a:latin typeface="Special Elite"/>
                <a:ea typeface="Nanum Gothic Coding"/>
                <a:cs typeface="Nanum Gothic Coding"/>
              </a:rPr>
              <a:t>WEEK 02</a:t>
            </a:r>
          </a:p>
        </p:txBody>
      </p:sp>
      <p:cxnSp>
        <p:nvCxnSpPr>
          <p:cNvPr id="4" name="Connector 3"/>
          <p:cNvCxnSpPr/>
          <p:nvPr/>
        </p:nvCxnSpPr>
        <p:spPr>
          <a:xfrm>
            <a:off x="812800" y="717550"/>
            <a:ext cx="10566400" cy="0"/>
          </a:xfrm>
          <a:prstGeom prst="line">
            <a:avLst/>
          </a:prstGeom>
          <a:ln w="12700">
            <a:solidFill>
              <a:srgbClr val="3D3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2387600"/>
            <a:ext cx="10989056" cy="1117600"/>
          </a:xfrm>
          <a:prstGeom prst="rect">
            <a:avLst/>
          </a:prstGeom>
          <a:noFill/>
        </p:spPr>
        <p:txBody>
          <a:bodyPr wrap="none" lIns="0" tIns="0" rIns="0" bIns="0" anchor="t"/>
          <a:lstStyle/>
          <a:p>
            <a:pPr algn="l">
              <a:lnSpc>
                <a:spcPct val="91300"/>
              </a:lnSpc>
            </a:pPr>
            <a:r>
              <a:rPr sz="8000" b="0">
                <a:solidFill>
                  <a:srgbClr val="E9E1CF"/>
                </a:solidFill>
                <a:latin typeface="Special Elite"/>
                <a:ea typeface="Nanum Gothic Coding"/>
                <a:cs typeface="Nanum Gothic Coding"/>
              </a:rPr>
              <a:t>Q&amp;A</a:t>
            </a:r>
          </a:p>
        </p:txBody>
      </p:sp>
      <p:sp>
        <p:nvSpPr>
          <p:cNvPr id="6" name="TextBox 5"/>
          <p:cNvSpPr txBox="1"/>
          <p:nvPr/>
        </p:nvSpPr>
        <p:spPr>
          <a:xfrm>
            <a:off x="812800" y="3657600"/>
            <a:ext cx="10989056" cy="177800"/>
          </a:xfrm>
          <a:prstGeom prst="rect">
            <a:avLst/>
          </a:prstGeom>
          <a:noFill/>
        </p:spPr>
        <p:txBody>
          <a:bodyPr wrap="none" lIns="0" tIns="0" rIns="0" bIns="0" anchor="t"/>
          <a:lstStyle/>
          <a:p>
            <a:pPr algn="l"/>
            <a:r>
              <a:rPr sz="1400" b="0" spc="150">
                <a:solidFill>
                  <a:srgbClr val="E5503F"/>
                </a:solidFill>
                <a:latin typeface="Special Elite"/>
                <a:ea typeface="Nanum Gothic Coding"/>
                <a:cs typeface="Nanum Gothic Coding"/>
              </a:rPr>
              <a:t>CASE CLOSED · QUESTIONS OPEN</a:t>
            </a:r>
          </a:p>
        </p:txBody>
      </p:sp>
      <p:sp>
        <p:nvSpPr>
          <p:cNvPr id="7" name="TextBox 6"/>
          <p:cNvSpPr txBox="1"/>
          <p:nvPr/>
        </p:nvSpPr>
        <p:spPr>
          <a:xfrm>
            <a:off x="812800" y="3987800"/>
            <a:ext cx="10989056" cy="304800"/>
          </a:xfrm>
          <a:prstGeom prst="rect">
            <a:avLst/>
          </a:prstGeom>
          <a:noFill/>
        </p:spPr>
        <p:txBody>
          <a:bodyPr wrap="none" lIns="0" tIns="0" rIns="0" bIns="0" anchor="t"/>
          <a:lstStyle/>
          <a:p>
            <a:pPr algn="l"/>
            <a:r>
              <a:rPr sz="2400" b="1">
                <a:solidFill>
                  <a:srgbClr val="E9E1CF"/>
                </a:solidFill>
                <a:latin typeface="Nanum Gothic Coding"/>
                <a:ea typeface="Nanum Gothic Coding"/>
                <a:cs typeface="Nanum Gothic Coding"/>
              </a:rPr>
              <a:t>감사합니다.</a:t>
            </a:r>
          </a:p>
        </p:txBody>
      </p:sp>
      <p:sp>
        <p:nvSpPr>
          <p:cNvPr id="8" name="TextBox 7"/>
          <p:cNvSpPr txBox="1"/>
          <p:nvPr/>
        </p:nvSpPr>
        <p:spPr>
          <a:xfrm>
            <a:off x="812800" y="4445000"/>
            <a:ext cx="10989056" cy="190500"/>
          </a:xfrm>
          <a:prstGeom prst="rect">
            <a:avLst/>
          </a:prstGeom>
          <a:noFill/>
        </p:spPr>
        <p:txBody>
          <a:bodyPr wrap="none" lIns="0" tIns="0" rIns="0" bIns="0" anchor="t"/>
          <a:lstStyle/>
          <a:p>
            <a:pPr algn="l"/>
            <a:r>
              <a:rPr sz="1500" b="0">
                <a:solidFill>
                  <a:srgbClr val="A99F8A"/>
                </a:solidFill>
                <a:latin typeface="Nanum Gothic Coding"/>
                <a:ea typeface="Nanum Gothic Coding"/>
                <a:cs typeface="Nanum Gothic Coding"/>
              </a:rPr>
              <a:t>질문과 의견을 기다립니다.</a:t>
            </a:r>
          </a:p>
        </p:txBody>
      </p:sp>
      <p:sp>
        <p:nvSpPr>
          <p:cNvPr id="9" name="Rectangle 8"/>
          <p:cNvSpPr/>
          <p:nvPr/>
        </p:nvSpPr>
        <p:spPr>
          <a:xfrm rot="21120000">
            <a:off x="7508875" y="1920875"/>
            <a:ext cx="3524250" cy="641350"/>
          </a:xfrm>
          <a:prstGeom prst="rect">
            <a:avLst/>
          </a:prstGeom>
          <a:noFill/>
          <a:ln w="31750">
            <a:solidFill>
              <a:srgbClr val="E5503F"/>
            </a:solidFill>
          </a:ln>
          <a:effectLst/>
        </p:spPr>
        <p:style>
          <a:lnRef idx="1">
            <a:schemeClr val="accent1"/>
          </a:lnRef>
          <a:fillRef idx="3">
            <a:schemeClr val="accent1"/>
          </a:fillRef>
          <a:effectRef idx="2">
            <a:schemeClr val="accent1"/>
          </a:effectRef>
          <a:fontRef idx="minor">
            <a:schemeClr val="lt1"/>
          </a:fontRef>
        </p:style>
        <p:txBody>
          <a:bodyPr rtlCol="0" anchor="t" lIns="184150" tIns="107950" rIns="184150" bIns="107950" wrap="none"/>
          <a:lstStyle/>
          <a:p>
            <a:pPr algn="ctr"/>
            <a:r>
              <a:rPr sz="3600" b="0" spc="200">
                <a:solidFill>
                  <a:srgbClr val="E5503F">
                    <a:alpha val="85000"/>
                  </a:srgbClr>
                </a:solidFill>
                <a:latin typeface="Special Elite"/>
                <a:ea typeface="Nanum Gothic Coding"/>
                <a:cs typeface="Nanum Gothic Coding"/>
              </a:rPr>
              <a:t>DECLASSIFIED</a:t>
            </a:r>
          </a:p>
        </p:txBody>
      </p:sp>
      <p:sp>
        <p:nvSpPr>
          <p:cNvPr id="10" name="TextBox 9"/>
          <p:cNvSpPr txBox="1"/>
          <p:nvPr/>
        </p:nvSpPr>
        <p:spPr>
          <a:xfrm>
            <a:off x="812800" y="6299200"/>
            <a:ext cx="7264400" cy="152400"/>
          </a:xfrm>
          <a:prstGeom prst="rect">
            <a:avLst/>
          </a:prstGeom>
          <a:noFill/>
        </p:spPr>
        <p:txBody>
          <a:bodyPr wrap="none" lIns="0" tIns="0" rIns="0" bIns="0" anchor="t"/>
          <a:lstStyle/>
          <a:p>
            <a:pPr algn="l"/>
            <a:r>
              <a:rPr sz="1200" b="0" spc="100">
                <a:solidFill>
                  <a:srgbClr val="A99F8A"/>
                </a:solidFill>
                <a:latin typeface="Special Elite"/>
                <a:ea typeface="Nanum Gothic Coding"/>
                <a:cs typeface="Nanum Gothic Coding"/>
              </a:rPr>
              <a:t>github.com/Pseudo-Lab/no-more-slops · @phantom_report</a:t>
            </a:r>
          </a:p>
        </p:txBody>
      </p:sp>
      <p:sp>
        <p:nvSpPr>
          <p:cNvPr id="11" name="TextBox 10"/>
          <p:cNvSpPr txBox="1"/>
          <p:nvPr/>
        </p:nvSpPr>
        <p:spPr>
          <a:xfrm>
            <a:off x="7945120" y="6299200"/>
            <a:ext cx="3434080" cy="152400"/>
          </a:xfrm>
          <a:prstGeom prst="rect">
            <a:avLst/>
          </a:prstGeom>
          <a:noFill/>
        </p:spPr>
        <p:txBody>
          <a:bodyPr wrap="none" lIns="0" tIns="0" rIns="0" bIns="0" anchor="t"/>
          <a:lstStyle/>
          <a:p>
            <a:pPr algn="r"/>
            <a:r>
              <a:rPr sz="1200" b="0" spc="100">
                <a:solidFill>
                  <a:srgbClr val="A99F8A"/>
                </a:solidFill>
                <a:latin typeface="Special Elite"/>
                <a:ea typeface="Nanum Gothic Coding"/>
                <a:cs typeface="Nanum Gothic Coding"/>
              </a:rPr>
              <a:t>NEXT BRIEFING · 10.24 FILE 03</a:t>
            </a:r>
          </a:p>
        </p:txBody>
      </p:sp>
    </p:spTree>
  </p:cSld>
  <p:clrMapOvr>
    <a:masterClrMapping/>
  </p:clrMapOvr>
</p:sld>
</file>

<file path=ppt/theme/theme1.xml><?xml version="1.0" encoding="utf-8"?>
<a:theme xmlns:a="http://schemas.openxmlformats.org/drawingml/2006/main" name="발표 템플릿">
  <a:themeElements>
    <a:clrScheme name="발표 템플릿">
      <a:dk1>
        <a:srgbClr val="16130F"/>
      </a:dk1>
      <a:lt1>
        <a:srgbClr val="E9E1CF"/>
      </a:lt1>
      <a:dk2>
        <a:srgbClr val="2B2822"/>
      </a:dk2>
      <a:lt2>
        <a:srgbClr val="B4AE9F"/>
      </a:lt2>
      <a:accent1>
        <a:srgbClr val="E5503F"/>
      </a:accent1>
      <a:accent2>
        <a:srgbClr val="C8352B"/>
      </a:accent2>
      <a:accent3>
        <a:srgbClr val="9E271F"/>
      </a:accent3>
      <a:accent4>
        <a:srgbClr val="A99F8A"/>
      </a:accent4>
      <a:accent5>
        <a:srgbClr val="8A8170"/>
      </a:accent5>
      <a:accent6>
        <a:srgbClr val="9AA0A6"/>
      </a:accent6>
      <a:hlink>
        <a:srgbClr val="0563C1"/>
      </a:hlink>
      <a:folHlink>
        <a:srgbClr val="954F72"/>
      </a:folHlink>
    </a:clrScheme>
    <a:fontScheme name="발표 템플릿">
      <a:majorFont>
        <a:latin typeface="Nanum Gothic Coding"/>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ecial Elit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발표 템플릿</dc:title>
  <dc:subject/>
  <dc:creator/>
  <cp:lastModifiedBy/>
  <cp:revision>1</cp:revision>
  <dcterms:created xsi:type="dcterms:W3CDTF">2026-10-11T10:22:16Z</dcterms:created>
  <dcterms:modified xsi:type="dcterms:W3CDTF">2026-10-11T10:22:16Z</dcterms:modified>
</cp:coreProperties>
</file>