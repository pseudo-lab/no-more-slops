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제목은 두 줄 이내. CASE 번호와 카테고리는 영어 키워드로, 제목은 한국어로 씁니다. 첫 30초에 "오늘 이 질문에 답하겠다"를 말하세요.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목차. 번호와 영어 키워드, 한국어 주제 순서입니다. 항목 수를 바꾸면 행을 복제하거나 지우세요.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섹션 구분. 숫자·키워드·제목만 바꿔 파트마다 복제합니다. 붉은 장은 숨 고르는 타이밍.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메시지. 강조할 구절 하나만 붉은 검열 띠에 넣습니다. 여기서 3초 멈추세요.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2단. 왼쪽은 배경, 오른쪽은 확인된 사실. 하단 SRC 줄에 출처를 남깁니다.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증거 카드 3장. 라벨(EVIDENCE A/B/C)은 영어, 내용은 한국어로.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수치 3개. 숫자는 타자기체로 크게, 출처는 SRC 줄에.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비교표. 추천안은 붉은색에 더해 글자로도 "추천"이라고 적습니다. 행은 5개 이하.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로드맵. 완료는 실선, 현재는 붉은 실선과 NOW, 예정은 점선. 상태는 색 말고 라벨로도 적어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진술·인용. 실제 발언만 쓰고 SRC 줄에 출처를 밝히세요.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증거물 + 설명. 어두운 상자를 사진으로 바꾸세요. Phantom Report처럼 흑백 톤에 붉은 포인트가 있는 이미지가 잘 어울립니다.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정리. 표지의 질문에 대한 답으로 끝내고, ACTION은 하나만.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마무리. 연락처를 남기고, 질문이 없으면 준비한 예상 질문 하나로 시작하세요.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background-1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background-2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background-3-image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background-4-image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background-5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6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464270"/>
            <a:ext cx="10566400" cy="58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E9E1C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354263"/>
            <a:ext cx="10566400" cy="3690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E9E1CF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464270"/>
            <a:ext cx="10566400" cy="58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E9E1C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354263"/>
            <a:ext cx="10566400" cy="3690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E9E1CF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464270"/>
            <a:ext cx="10566400" cy="58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E9E1C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354263"/>
            <a:ext cx="10566400" cy="3690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E9E1CF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464270"/>
            <a:ext cx="10566400" cy="58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E9E1C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354263"/>
            <a:ext cx="10566400" cy="3690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E9E1CF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464270"/>
            <a:ext cx="10566400" cy="58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E9E1C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354263"/>
            <a:ext cx="10566400" cy="3690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E9E1CF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464270"/>
            <a:ext cx="10566400" cy="58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E9E1C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354263"/>
            <a:ext cx="10566400" cy="3690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E9E1CF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464270"/>
            <a:ext cx="10566400" cy="58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E9E1C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354263"/>
            <a:ext cx="10566400" cy="3690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E9E1CF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6400" y="419100"/>
            <a:ext cx="508000" cy="0"/>
          </a:xfrm>
          <a:prstGeom prst="line">
            <a:avLst/>
          </a:prstGeom>
          <a:noFill/>
          <a:ln w="25400">
            <a:solidFill>
              <a:srgbClr val="A99F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9100" y="406400"/>
            <a:ext cx="0" cy="508000"/>
          </a:xfrm>
          <a:prstGeom prst="line">
            <a:avLst/>
          </a:prstGeom>
          <a:noFill/>
          <a:ln w="25400">
            <a:solidFill>
              <a:srgbClr val="A99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72900" y="5943600"/>
            <a:ext cx="0" cy="508000"/>
          </a:xfrm>
          <a:prstGeom prst="line">
            <a:avLst/>
          </a:prstGeom>
          <a:noFill/>
          <a:ln w="25400">
            <a:solidFill>
              <a:srgbClr val="A99F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77600" y="6438900"/>
            <a:ext cx="508000" cy="0"/>
          </a:xfrm>
          <a:prstGeom prst="line">
            <a:avLst/>
          </a:prstGeom>
          <a:noFill/>
          <a:ln w="25400">
            <a:solidFill>
              <a:srgbClr val="A99F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800" y="1156295"/>
            <a:ext cx="10566400" cy="0"/>
          </a:xfrm>
          <a:prstGeom prst="line">
            <a:avLst/>
          </a:prstGeom>
          <a:noFill/>
          <a:ln w="6350">
            <a:solidFill>
              <a:srgbClr val="3D372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12800" y="812800"/>
            <a:ext cx="2660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[PROJECT CODENAME]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743877" y="812800"/>
            <a:ext cx="16353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BRIEFING 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800" y="237242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0" kern="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CASE #001 · [CATEGORY]</a:t>
            </a:r>
            <a:endParaRPr lang="en-US" sz="1600" dirty="0"/>
          </a:p>
        </p:txBody>
      </p:sp>
      <p:sp>
        <p:nvSpPr>
          <p:cNvPr id="10" name="Text 8"/>
          <p:cNvSpPr/>
          <p:nvPr>
            <p:ph type="title"/>
          </p:nvPr>
        </p:nvSpPr>
        <p:spPr>
          <a:xfrm>
            <a:off x="812800" y="2961680"/>
            <a:ext cx="10883392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00"/>
              </a:lnSpc>
              <a:buNone/>
            </a:pPr>
            <a:r>
              <a:rPr lang="en-US" sz="6000" b="1" i="0" spc="-50" kern="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[발표 제목을</a:t>
            </a:r>
            <a:endParaRPr lang="en-US" sz="6000" dirty="0"/>
          </a:p>
          <a:p>
            <a:pPr algn="l" indent="0" marL="0">
              <a:lnSpc>
                <a:spcPts val="7500"/>
              </a:lnSpc>
              <a:buNone/>
            </a:pPr>
            <a:r>
              <a:rPr lang="en-US" sz="6000" b="1" i="0" spc="-50" kern="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두 줄로 여기에]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812800" y="517148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[부제 — 이 발표가 답하려는 질문 한 줄]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5760740"/>
            <a:ext cx="316992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[발표자] </a:t>
            </a:r>
            <a:r>
              <a:rPr lang="en-US" sz="1600" b="1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· [소속 · 직함]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95519" y="5831880"/>
            <a:ext cx="278368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2026.10.__ · SWIPE →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 rot="20940000">
            <a:off x="8026400" y="1294110"/>
            <a:ext cx="3251200" cy="1435100"/>
          </a:xfrm>
          <a:prstGeom prst="rect">
            <a:avLst/>
          </a:prstGeom>
          <a:noFill/>
          <a:ln w="50800">
            <a:solidFill>
              <a:srgbClr val="C8352B">
                <a:alpha val="88000"/>
              </a:srgbClr>
            </a:solidFill>
            <a:prstDash val="solid"/>
          </a:ln>
        </p:spPr>
        <p:txBody>
          <a:bodyPr wrap="square" lIns="134366" tIns="76200" rIns="134366" bIns="50800" rtlCol="0" anchor="t">
            <a:normAutofit/>
          </a:bodyPr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spc="400" kern="0" dirty="0">
                <a:solidFill>
                  <a:srgbClr val="E5503F">
                    <a:alpha val="88000"/>
                  </a:srgbClr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CLASSIFIED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1156295"/>
            <a:ext cx="10566400" cy="0"/>
          </a:xfrm>
          <a:prstGeom prst="line">
            <a:avLst/>
          </a:prstGeom>
          <a:noFill/>
          <a:ln w="6350">
            <a:solidFill>
              <a:srgbClr val="3D372C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812800" y="812800"/>
            <a:ext cx="14842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CASE INDEX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743877" y="812800"/>
            <a:ext cx="16353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BRIEFING 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2800" y="2163366"/>
            <a:ext cx="10566400" cy="0"/>
          </a:xfrm>
          <a:prstGeom prst="line">
            <a:avLst/>
          </a:prstGeom>
          <a:noFill/>
          <a:ln w="6350">
            <a:solidFill>
              <a:srgbClr val="3D372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12800" y="1591270"/>
            <a:ext cx="9398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#01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006600" y="1680170"/>
            <a:ext cx="20929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[KEYWORD]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43400" y="1591270"/>
            <a:ext cx="234696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[첫 번째 주제]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12800" y="2916436"/>
            <a:ext cx="10566400" cy="0"/>
          </a:xfrm>
          <a:prstGeom prst="line">
            <a:avLst/>
          </a:prstGeom>
          <a:noFill/>
          <a:ln w="6350">
            <a:solidFill>
              <a:srgbClr val="3D372C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812800" y="2344341"/>
            <a:ext cx="9398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#02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06600" y="2433241"/>
            <a:ext cx="20929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[KEYWORD]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43400" y="2344341"/>
            <a:ext cx="234696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[두 번째 주제]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12800" y="3669506"/>
            <a:ext cx="10566400" cy="0"/>
          </a:xfrm>
          <a:prstGeom prst="line">
            <a:avLst/>
          </a:prstGeom>
          <a:noFill/>
          <a:ln w="6350">
            <a:solidFill>
              <a:srgbClr val="3D372C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812800" y="3097411"/>
            <a:ext cx="9398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#03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006600" y="3186311"/>
            <a:ext cx="20929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[KEYWORD]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43400" y="3097411"/>
            <a:ext cx="234696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[세 번째 주제]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12800" y="4422577"/>
            <a:ext cx="10566400" cy="0"/>
          </a:xfrm>
          <a:prstGeom prst="line">
            <a:avLst/>
          </a:prstGeom>
          <a:noFill/>
          <a:ln w="6350">
            <a:solidFill>
              <a:srgbClr val="3D372C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812800" y="3850481"/>
            <a:ext cx="9398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#04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006600" y="3939381"/>
            <a:ext cx="20929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DEBRIEF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43400" y="3850481"/>
            <a:ext cx="217932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[정리 및 Q&amp;A]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4 CASES · [PRESENTER]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804400" y="6238280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02 / 13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1156295"/>
            <a:ext cx="10566400" cy="0"/>
          </a:xfrm>
          <a:prstGeom prst="line">
            <a:avLst/>
          </a:prstGeom>
          <a:noFill/>
          <a:ln w="6350">
            <a:solidFill>
              <a:srgbClr val="D98A80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812800" y="812800"/>
            <a:ext cx="14839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E9E1C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SECTION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66774" y="812800"/>
            <a:ext cx="13124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E9E1C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[KEYWORD]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3759200"/>
            <a:ext cx="3405287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0"/>
              </a:lnSpc>
              <a:buNone/>
            </a:pPr>
            <a:r>
              <a:rPr lang="en-US" sz="20000" dirty="0">
                <a:solidFill>
                  <a:srgbClr val="E9E1C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01</a:t>
            </a:r>
            <a:endParaRPr lang="en-US" sz="20000" dirty="0"/>
          </a:p>
        </p:txBody>
      </p:sp>
      <p:sp>
        <p:nvSpPr>
          <p:cNvPr id="6" name="Text 4"/>
          <p:cNvSpPr/>
          <p:nvPr>
            <p:ph type="title"/>
          </p:nvPr>
        </p:nvSpPr>
        <p:spPr>
          <a:xfrm>
            <a:off x="4218087" y="4439940"/>
            <a:ext cx="50292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6000" b="1" i="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[섹션 제목]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218087" y="5506740"/>
            <a:ext cx="431673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[이 섹션에서 밝힐 것 한 줄]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1156295"/>
            <a:ext cx="10566400" cy="0"/>
          </a:xfrm>
          <a:prstGeom prst="line">
            <a:avLst/>
          </a:prstGeom>
          <a:noFill/>
          <a:ln w="6350">
            <a:solidFill>
              <a:srgbClr val="3D372C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812800" y="812800"/>
            <a:ext cx="16303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KEY FINDING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743877" y="812800"/>
            <a:ext cx="16353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BRIEFING 01</a:t>
            </a:r>
            <a:endParaRPr lang="en-US" sz="12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2512715"/>
            <a:ext cx="10883392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i="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[청중이 기억해야 할 단 하나의 메시지를]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12800" y="3457575"/>
            <a:ext cx="3276600" cy="594320"/>
          </a:xfrm>
          <a:prstGeom prst="rect">
            <a:avLst/>
          </a:prstGeom>
          <a:solidFill>
            <a:srgbClr val="C8352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4680"/>
              </a:lnSpc>
              <a:buNone/>
            </a:pPr>
            <a:r>
              <a:rPr lang="en-US" sz="36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[한 문장으로]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12800" y="4509095"/>
            <a:ext cx="1727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87140" y="4509095"/>
            <a:ext cx="707136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[메시지를 뒷받침하는 근거 한 줄 — 다음 장에서 풀어냅니다]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[PRESENTER] · CONFIDENTIAL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804400" y="6238280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04 / 13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1156295"/>
            <a:ext cx="10566400" cy="0"/>
          </a:xfrm>
          <a:prstGeom prst="line">
            <a:avLst/>
          </a:prstGeom>
          <a:noFill/>
          <a:ln w="6350">
            <a:solidFill>
              <a:srgbClr val="3D372C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812800" y="812800"/>
            <a:ext cx="27669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CASE #01 · [KEYWORD]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743877" y="812800"/>
            <a:ext cx="16353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BRIEFING 01</a:t>
            </a:r>
            <a:endParaRPr lang="en-US" sz="12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1464270"/>
            <a:ext cx="10883392" cy="610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8"/>
              </a:lnSpc>
              <a:buNone/>
            </a:pPr>
            <a:r>
              <a:rPr lang="en-US" sz="3600" b="1" i="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[슬라이드 제목 — 주제를 소개]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12800" y="2354263"/>
            <a:ext cx="48595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BACKGROUND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2719983"/>
            <a:ext cx="4859592" cy="675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[현재 상황을 두세 문장으로 설명합니다. 무엇이 문제이고, 왜 지금 다뤄야 하는지 씁니다.]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42025" y="2357438"/>
            <a:ext cx="5334000" cy="3481388"/>
          </a:xfrm>
          <a:prstGeom prst="rect">
            <a:avLst/>
          </a:prstGeom>
          <a:noFill/>
          <a:ln w="6350">
            <a:solidFill>
              <a:srgbClr val="3D37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0000" y="2614613"/>
            <a:ext cx="48595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FACTS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50000" y="2954933"/>
            <a:ext cx="4859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8A8170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—</a:t>
            </a:r>
            <a:r>
              <a:rPr lang="en-US" sz="160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 [확인된 사실 하나]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50000" y="3386733"/>
            <a:ext cx="4859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8A8170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—</a:t>
            </a:r>
            <a:r>
              <a:rPr lang="en-US" sz="160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 [확인된 사실 둘]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50000" y="3818533"/>
            <a:ext cx="4859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8A8170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—</a:t>
            </a:r>
            <a:r>
              <a:rPr lang="en-US" sz="160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 [확인된 사실 셋]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SRC: [출처 · 날짜]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804400" y="6238280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05 / 13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1156295"/>
            <a:ext cx="10566400" cy="0"/>
          </a:xfrm>
          <a:prstGeom prst="line">
            <a:avLst/>
          </a:prstGeom>
          <a:noFill/>
          <a:ln w="6350">
            <a:solidFill>
              <a:srgbClr val="3D372C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812800" y="812800"/>
            <a:ext cx="27669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CASE #01 · [KEYWORD]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743877" y="812800"/>
            <a:ext cx="16353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BRIEFING 01</a:t>
            </a:r>
            <a:endParaRPr lang="en-US" sz="12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1464270"/>
            <a:ext cx="10883392" cy="610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8"/>
              </a:lnSpc>
              <a:buNone/>
            </a:pPr>
            <a:r>
              <a:rPr lang="en-US" sz="3600" b="1" i="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[세 가지 증거]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19150" y="2360613"/>
            <a:ext cx="3373934" cy="3475038"/>
          </a:xfrm>
          <a:prstGeom prst="rect">
            <a:avLst/>
          </a:prstGeom>
          <a:solidFill>
            <a:srgbClr val="1D1915"/>
          </a:solidFill>
          <a:ln w="12700">
            <a:solidFill>
              <a:srgbClr val="3D372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079500" y="2620963"/>
            <a:ext cx="293883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EVIDENCE 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9500" y="2986683"/>
            <a:ext cx="2938831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[포인트 1]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79500" y="3502273"/>
            <a:ext cx="2938831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[설명 두 줄 이내. 구체적인 사례나 근거 하나를 붙입니다.]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08984" y="2360613"/>
            <a:ext cx="3373983" cy="3475038"/>
          </a:xfrm>
          <a:prstGeom prst="rect">
            <a:avLst/>
          </a:prstGeom>
          <a:solidFill>
            <a:srgbClr val="1D1915"/>
          </a:solidFill>
          <a:ln w="12700">
            <a:solidFill>
              <a:srgbClr val="3D372C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669334" y="2620963"/>
            <a:ext cx="29388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EVIDENCE 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9334" y="2986683"/>
            <a:ext cx="293888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[포인트 2]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69334" y="3502273"/>
            <a:ext cx="2938882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[설명 두 줄 이내. 구체적인 사례나 근거 하나를 붙입니다.]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98867" y="2360613"/>
            <a:ext cx="3373983" cy="3475038"/>
          </a:xfrm>
          <a:prstGeom prst="rect">
            <a:avLst/>
          </a:prstGeom>
          <a:solidFill>
            <a:srgbClr val="1D1915"/>
          </a:solidFill>
          <a:ln w="12700">
            <a:solidFill>
              <a:srgbClr val="3D372C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8259217" y="2620963"/>
            <a:ext cx="29388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EVIDENCE 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59217" y="2986683"/>
            <a:ext cx="293888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[포인트 3]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59217" y="3502273"/>
            <a:ext cx="2938882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[설명 두 줄 이내. 구체적인 사례나 근거 하나를 붙입니다.]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[PRESENTER] · CONFIDENTIAL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04400" y="6238280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06 / 13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1156295"/>
            <a:ext cx="10566400" cy="0"/>
          </a:xfrm>
          <a:prstGeom prst="line">
            <a:avLst/>
          </a:prstGeom>
          <a:noFill/>
          <a:ln w="6350">
            <a:solidFill>
              <a:srgbClr val="3D372C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812800" y="812800"/>
            <a:ext cx="35679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CASE #02 · BY THE NUMBERS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743877" y="812800"/>
            <a:ext cx="16353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BRIEFING 01</a:t>
            </a:r>
            <a:endParaRPr lang="en-US" sz="12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1464270"/>
            <a:ext cx="10883392" cy="610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8"/>
              </a:lnSpc>
              <a:buNone/>
            </a:pPr>
            <a:r>
              <a:rPr lang="en-US" sz="3600" b="1" i="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[숫자로 보는 결과]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12800" y="4358680"/>
            <a:ext cx="3204845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dirty="0">
                <a:solidFill>
                  <a:srgbClr val="E9E1C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[__]%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12800" y="5298480"/>
            <a:ext cx="32048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[METRIC]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5613400"/>
            <a:ext cx="320484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[지표 설명 · 기준 시점 대비]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32275" y="4358680"/>
            <a:ext cx="0" cy="1483320"/>
          </a:xfrm>
          <a:prstGeom prst="line">
            <a:avLst/>
          </a:prstGeom>
          <a:noFill/>
          <a:ln w="6350">
            <a:solidFill>
              <a:srgbClr val="3D372C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540250" y="4358680"/>
            <a:ext cx="3204845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dirty="0">
                <a:solidFill>
                  <a:srgbClr val="E9E1C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[__]x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4540250" y="5298480"/>
            <a:ext cx="32048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[METRIC]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40250" y="5613400"/>
            <a:ext cx="320484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[지표 설명 · 기준 시점 대비]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9725" y="4358680"/>
            <a:ext cx="0" cy="1483320"/>
          </a:xfrm>
          <a:prstGeom prst="line">
            <a:avLst/>
          </a:prstGeom>
          <a:noFill/>
          <a:ln w="6350">
            <a:solidFill>
              <a:srgbClr val="3D372C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8267700" y="4358680"/>
            <a:ext cx="3204845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dirty="0">
                <a:solidFill>
                  <a:srgbClr val="E9E1C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[__]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8267700" y="5298480"/>
            <a:ext cx="32048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[METRIC]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67700" y="5613400"/>
            <a:ext cx="320484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[지표 설명 · 기준 시점 대비]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SRC: [데이터 출처 · 기간]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804400" y="6238280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07 / 13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1156295"/>
            <a:ext cx="10566400" cy="0"/>
          </a:xfrm>
          <a:prstGeom prst="line">
            <a:avLst/>
          </a:prstGeom>
          <a:noFill/>
          <a:ln w="6350">
            <a:solidFill>
              <a:srgbClr val="3D372C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812800" y="812800"/>
            <a:ext cx="299662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CASE #02 · COMPARISON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743877" y="812800"/>
            <a:ext cx="16353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BRIEFING 01</a:t>
            </a:r>
            <a:endParaRPr lang="en-US" sz="12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1464270"/>
            <a:ext cx="10883392" cy="610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8"/>
              </a:lnSpc>
              <a:buNone/>
            </a:pPr>
            <a:r>
              <a:rPr lang="en-US" sz="3600" b="1" i="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[선택지 비교]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1376025" y="2354263"/>
            <a:ext cx="0" cy="2203103"/>
          </a:xfrm>
          <a:prstGeom prst="line">
            <a:avLst/>
          </a:prstGeom>
          <a:noFill/>
          <a:ln w="6350">
            <a:solidFill>
              <a:srgbClr val="3D37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2800" y="4554190"/>
            <a:ext cx="10566400" cy="0"/>
          </a:xfrm>
          <a:prstGeom prst="line">
            <a:avLst/>
          </a:prstGeom>
          <a:noFill/>
          <a:ln w="6350">
            <a:solidFill>
              <a:srgbClr val="3D37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2800" y="2360613"/>
            <a:ext cx="10566400" cy="0"/>
          </a:xfrm>
          <a:prstGeom prst="line">
            <a:avLst/>
          </a:prstGeom>
          <a:noFill/>
          <a:ln w="12700">
            <a:solidFill>
              <a:srgbClr val="FAF9F5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150" y="2354263"/>
            <a:ext cx="0" cy="2203103"/>
          </a:xfrm>
          <a:prstGeom prst="line">
            <a:avLst/>
          </a:prstGeom>
          <a:noFill/>
          <a:ln w="12700">
            <a:solidFill>
              <a:srgbClr val="FAF9F5">
                <a:alpha val="22000"/>
              </a:srgbClr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3300" y="2493963"/>
          <a:ext cx="10191750" cy="1930053"/>
        </p:xfrm>
        <a:graphic>
          <a:graphicData uri="http://schemas.openxmlformats.org/drawingml/2006/table">
            <a:tbl>
              <a:tblPr/>
              <a:tblGrid>
                <a:gridCol w="2242185"/>
                <a:gridCol w="2649855"/>
                <a:gridCol w="2649855"/>
                <a:gridCol w="2649855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A99F8A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구분</a:t>
                      </a:r>
                      <a:endParaRPr lang="en-US" sz="14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585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585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5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A99F8A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[옵션 A]</a:t>
                      </a:r>
                      <a:endParaRPr lang="en-US" sz="14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585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585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5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A99F8A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[옵션 B]</a:t>
                      </a:r>
                      <a:endParaRPr lang="en-US" sz="14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585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585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5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E5503F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[옵션 C · 추천]</a:t>
                      </a:r>
                      <a:endParaRPr lang="en-US" sz="14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585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585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51D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9E1CF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비용</a:t>
                      </a:r>
                      <a:endParaRPr lang="en-US" sz="14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9E1CF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[__]</a:t>
                      </a:r>
                      <a:endParaRPr lang="en-US" sz="14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9E1CF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[__]</a:t>
                      </a:r>
                      <a:endParaRPr lang="en-US" sz="14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9E1CF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[__]</a:t>
                      </a:r>
                      <a:endParaRPr lang="en-US" sz="14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9E1CF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기간</a:t>
                      </a:r>
                      <a:endParaRPr lang="en-US" sz="14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E4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9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9E1CF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[__]</a:t>
                      </a:r>
                      <a:endParaRPr lang="en-US" sz="14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E4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4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9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9E1CF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[__]</a:t>
                      </a:r>
                      <a:endParaRPr lang="en-US" sz="14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E4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4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9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9E1CF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[__]</a:t>
                      </a:r>
                      <a:endParaRPr lang="en-US" sz="14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E4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4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915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9E1CF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리스크</a:t>
                      </a:r>
                      <a:endParaRPr lang="en-US" sz="14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9E1CF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[낮음 / 중간 / 높음]</a:t>
                      </a:r>
                      <a:endParaRPr lang="en-US" sz="14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9E1CF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[__]</a:t>
                      </a:r>
                      <a:endParaRPr lang="en-US" sz="14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9E1CF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[__]</a:t>
                      </a:r>
                      <a:endParaRPr lang="en-US" sz="14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9E1CF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기대 효과</a:t>
                      </a:r>
                      <a:endParaRPr lang="en-US" sz="14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E4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9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9E1CF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[__]</a:t>
                      </a:r>
                      <a:endParaRPr lang="en-US" sz="14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E4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4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9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9E1CF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[__]</a:t>
                      </a:r>
                      <a:endParaRPr lang="en-US" sz="14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E4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4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9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5503F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[__] — 추천 근거</a:t>
                      </a:r>
                      <a:endParaRPr lang="en-US" sz="14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E4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4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915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SRC: [출처 · 날짜]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804400" y="6238280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08 / 13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1156295"/>
            <a:ext cx="10566400" cy="0"/>
          </a:xfrm>
          <a:prstGeom prst="line">
            <a:avLst/>
          </a:prstGeom>
          <a:noFill/>
          <a:ln w="6350">
            <a:solidFill>
              <a:srgbClr val="3D372C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812800" y="812800"/>
            <a:ext cx="26970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CASE #02 · TIMELINE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743877" y="812800"/>
            <a:ext cx="16353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BRIEFING 01</a:t>
            </a:r>
            <a:endParaRPr lang="en-US" sz="12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1464270"/>
            <a:ext cx="10883392" cy="610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8"/>
              </a:lnSpc>
              <a:buNone/>
            </a:pPr>
            <a:r>
              <a:rPr lang="en-US" sz="3600" b="1" i="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[실행 로드맵]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12800" y="2373313"/>
            <a:ext cx="2489200" cy="0"/>
          </a:xfrm>
          <a:prstGeom prst="line">
            <a:avLst/>
          </a:prstGeom>
          <a:noFill/>
          <a:ln w="38100">
            <a:solidFill>
              <a:srgbClr val="A99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2800" y="2595563"/>
            <a:ext cx="25638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10.__ · DONE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2935883"/>
            <a:ext cx="2563876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[마일스톤 이름]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3327003"/>
            <a:ext cx="256387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[무엇을 끝내면 완료인지]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05200" y="2373313"/>
            <a:ext cx="2489200" cy="0"/>
          </a:xfrm>
          <a:prstGeom prst="line">
            <a:avLst/>
          </a:prstGeom>
          <a:noFill/>
          <a:ln w="38100">
            <a:solidFill>
              <a:srgbClr val="C835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5200" y="2595563"/>
            <a:ext cx="25638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11.__ · NOW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05200" y="2935883"/>
            <a:ext cx="2563876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[마일스톤 이름]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05200" y="3327003"/>
            <a:ext cx="256387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[무엇을 끝내면 완료인지]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97600" y="2373313"/>
            <a:ext cx="2489200" cy="0"/>
          </a:xfrm>
          <a:prstGeom prst="line">
            <a:avLst/>
          </a:prstGeom>
          <a:noFill/>
          <a:ln w="38100">
            <a:solidFill>
              <a:srgbClr val="3D372C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197600" y="2595563"/>
            <a:ext cx="25638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12.__ · NEXT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97600" y="2935883"/>
            <a:ext cx="2563876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[마일스톤 이름]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97600" y="3327003"/>
            <a:ext cx="256387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[무엇을 끝내면 완료인지]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90000" y="2373313"/>
            <a:ext cx="2489200" cy="0"/>
          </a:xfrm>
          <a:prstGeom prst="line">
            <a:avLst/>
          </a:prstGeom>
          <a:noFill/>
          <a:ln w="38100">
            <a:solidFill>
              <a:srgbClr val="3D372C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8890000" y="2595563"/>
            <a:ext cx="25638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2027 · LATER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890000" y="2935883"/>
            <a:ext cx="2563876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[마일스톤 이름]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90000" y="3327003"/>
            <a:ext cx="256387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[무엇을 끝내면 완료인지]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[PRESENTER] · CONFIDENTIAL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04400" y="6238280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09 / 13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1156295"/>
            <a:ext cx="10566400" cy="0"/>
          </a:xfrm>
          <a:prstGeom prst="line">
            <a:avLst/>
          </a:prstGeom>
          <a:noFill/>
          <a:ln w="6350">
            <a:solidFill>
              <a:srgbClr val="3D372C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812800" y="812800"/>
            <a:ext cx="321677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TESTIMONY · TRANSCRIPT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743877" y="812800"/>
            <a:ext cx="16353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BRIEFING 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3600" y="2667645"/>
            <a:ext cx="0" cy="1970980"/>
          </a:xfrm>
          <a:prstGeom prst="line">
            <a:avLst/>
          </a:prstGeom>
          <a:noFill/>
          <a:ln w="101600">
            <a:solidFill>
              <a:srgbClr val="C8352B"/>
            </a:solidFill>
            <a:prstDash val="solid"/>
          </a:ln>
        </p:spPr>
      </p:sp>
      <p:sp>
        <p:nvSpPr>
          <p:cNvPr id="6" name="Text 4"/>
          <p:cNvSpPr/>
          <p:nvPr>
            <p:ph type="title"/>
          </p:nvPr>
        </p:nvSpPr>
        <p:spPr>
          <a:xfrm>
            <a:off x="1270000" y="2769245"/>
            <a:ext cx="10412476" cy="130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i="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"[인용문을 여기에 — 두 줄 이내로 짧을수록 강합니다]"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270000" y="4252565"/>
            <a:ext cx="1041247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— [이름], [직함]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SRC: [발언 출처 · 날짜]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04400" y="6238280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10 / 13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5975" y="815975"/>
            <a:ext cx="5835650" cy="5022850"/>
          </a:xfrm>
          <a:prstGeom prst="rect">
            <a:avLst/>
          </a:prstGeom>
          <a:gradFill rotWithShape="1">
            <a:gsLst>
              <a:gs pos="0">
                <a:srgbClr val="2A251D"/>
              </a:gs>
              <a:gs pos="100000">
                <a:srgbClr val="1A1612"/>
              </a:gs>
            </a:gsLst>
            <a:lin ang="2700000" scaled="0"/>
          </a:gradFill>
          <a:ln w="6350">
            <a:solidFill>
              <a:srgbClr val="3D372C"/>
            </a:solidFill>
            <a:prstDash val="solid"/>
          </a:ln>
        </p:spPr>
        <p:txBody>
          <a:bodyPr wrap="square" lIns="3175" tIns="3175" rIns="3175" bIns="3175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[이미지·스크린샷 자리 — 이 상자를 이미지로 교체]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66800" y="1079500"/>
            <a:ext cx="406400" cy="0"/>
          </a:xfrm>
          <a:prstGeom prst="line">
            <a:avLst/>
          </a:prstGeom>
          <a:noFill/>
          <a:ln w="25400">
            <a:solidFill>
              <a:srgbClr val="A99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9500" y="1066800"/>
            <a:ext cx="0" cy="406400"/>
          </a:xfrm>
          <a:prstGeom prst="line">
            <a:avLst/>
          </a:prstGeom>
          <a:noFill/>
          <a:ln w="25400">
            <a:solidFill>
              <a:srgbClr val="A99F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88100" y="5181600"/>
            <a:ext cx="0" cy="406400"/>
          </a:xfrm>
          <a:prstGeom prst="line">
            <a:avLst/>
          </a:prstGeom>
          <a:noFill/>
          <a:ln w="25400">
            <a:solidFill>
              <a:srgbClr val="A99F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94400" y="5575300"/>
            <a:ext cx="406400" cy="0"/>
          </a:xfrm>
          <a:prstGeom prst="line">
            <a:avLst/>
          </a:prstGeom>
          <a:noFill/>
          <a:ln w="25400">
            <a:solidFill>
              <a:srgbClr val="A99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6800" y="5527080"/>
            <a:ext cx="2862213" cy="314920"/>
          </a:xfrm>
          <a:prstGeom prst="rect">
            <a:avLst/>
          </a:prstGeom>
          <a:solidFill>
            <a:srgbClr val="C8352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E9E1C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EXHIBIT 01 · [KEYWORD]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62800" y="1863427"/>
            <a:ext cx="43428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CASE #02 · KOREA · 10.__</a:t>
            </a:r>
            <a:endParaRPr lang="en-US" sz="1200" dirty="0"/>
          </a:p>
        </p:txBody>
      </p:sp>
      <p:sp>
        <p:nvSpPr>
          <p:cNvPr id="9" name="Text 7"/>
          <p:cNvSpPr/>
          <p:nvPr>
            <p:ph type="title"/>
          </p:nvPr>
        </p:nvSpPr>
        <p:spPr>
          <a:xfrm>
            <a:off x="7162800" y="2279948"/>
            <a:ext cx="4342892" cy="1195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8"/>
              </a:lnSpc>
              <a:buNone/>
            </a:pPr>
            <a:r>
              <a:rPr lang="en-US" sz="3600" b="1" i="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[화면으로 보여주기]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162800" y="3653532"/>
            <a:ext cx="4342892" cy="675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[이미지가 무엇을 보여주는지, 어디를 봐야 하는지 두세 문장으로.]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62800" y="4506913"/>
            <a:ext cx="1727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11740" y="4506913"/>
            <a:ext cx="231648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[주목할 부분 한 줄]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SRC: [이미지 출처]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804400" y="6238280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11 / 13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1156295"/>
            <a:ext cx="10566400" cy="0"/>
          </a:xfrm>
          <a:prstGeom prst="line">
            <a:avLst/>
          </a:prstGeom>
          <a:noFill/>
          <a:ln w="6350">
            <a:solidFill>
              <a:srgbClr val="3D372C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812800" y="812800"/>
            <a:ext cx="18246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CASE 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743877" y="812800"/>
            <a:ext cx="16353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BRIEFING 01</a:t>
            </a:r>
            <a:endParaRPr lang="en-US" sz="12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1464270"/>
            <a:ext cx="10883392" cy="610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8"/>
              </a:lnSpc>
              <a:buNone/>
            </a:pPr>
            <a:r>
              <a:rPr lang="en-US" sz="3600" b="1" i="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세 줄 정리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12800" y="3053358"/>
            <a:ext cx="10566400" cy="0"/>
          </a:xfrm>
          <a:prstGeom prst="line">
            <a:avLst/>
          </a:prstGeom>
          <a:noFill/>
          <a:ln w="6350">
            <a:solidFill>
              <a:srgbClr val="3D372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12800" y="2506663"/>
            <a:ext cx="8128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79600" y="2506663"/>
            <a:ext cx="28498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[첫째, 핵심 결론]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12800" y="3755628"/>
            <a:ext cx="10566400" cy="0"/>
          </a:xfrm>
          <a:prstGeom prst="line">
            <a:avLst/>
          </a:prstGeom>
          <a:noFill/>
          <a:ln w="6350">
            <a:solidFill>
              <a:srgbClr val="3D372C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812800" y="3208933"/>
            <a:ext cx="8128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79600" y="3208933"/>
            <a:ext cx="435864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[둘째, 근거가 말해주는 것]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2800" y="4457898"/>
            <a:ext cx="10566400" cy="0"/>
          </a:xfrm>
          <a:prstGeom prst="line">
            <a:avLst/>
          </a:prstGeom>
          <a:noFill/>
          <a:ln w="6350">
            <a:solidFill>
              <a:srgbClr val="3D372C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812800" y="3911203"/>
            <a:ext cx="8128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879600" y="3911203"/>
            <a:ext cx="28498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[셋째, 다음 행동]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15975" y="5243215"/>
            <a:ext cx="10560050" cy="595610"/>
          </a:xfrm>
          <a:prstGeom prst="rect">
            <a:avLst/>
          </a:prstGeom>
          <a:noFill/>
          <a:ln w="6350">
            <a:solidFill>
              <a:srgbClr val="3D37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3150" y="5434360"/>
            <a:ext cx="11210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ACTION 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94223" y="5398790"/>
            <a:ext cx="438912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[청중에게 바라는 결정·행동 한 가지]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[PRESENTER] · CONFIDENTIAL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04400" y="6238280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12 / 13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1156295"/>
            <a:ext cx="10566400" cy="0"/>
          </a:xfrm>
          <a:prstGeom prst="line">
            <a:avLst/>
          </a:prstGeom>
          <a:noFill/>
          <a:ln w="6350">
            <a:solidFill>
              <a:srgbClr val="3D372C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812800" y="812800"/>
            <a:ext cx="19428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END OF REPORT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743877" y="812800"/>
            <a:ext cx="16353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BRIEFING 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2131219"/>
            <a:ext cx="10883392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dirty="0">
                <a:solidFill>
                  <a:srgbClr val="E9E1C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Q&amp;A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12800" y="3096419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0" kern="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CASE CLOSED · QUESTIONS OPEN</a:t>
            </a:r>
            <a:endParaRPr lang="en-US" sz="1600" dirty="0"/>
          </a:p>
        </p:txBody>
      </p:sp>
      <p:sp>
        <p:nvSpPr>
          <p:cNvPr id="7" name="Text 5"/>
          <p:cNvSpPr/>
          <p:nvPr>
            <p:ph type="title"/>
          </p:nvPr>
        </p:nvSpPr>
        <p:spPr>
          <a:xfrm>
            <a:off x="812800" y="3787279"/>
            <a:ext cx="10883392" cy="610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8"/>
              </a:lnSpc>
              <a:buNone/>
            </a:pPr>
            <a:r>
              <a:rPr lang="en-US" sz="3600" b="1" i="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감사합니다.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12800" y="4575671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질문과 의견을 기다립니다.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5831880"/>
            <a:ext cx="34407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[email@example.com] · [LINK]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88422" y="5831880"/>
            <a:ext cx="28907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NEXT BRIEFING · [__.__]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 rot="20940000">
            <a:off x="7899400" y="1929110"/>
            <a:ext cx="3378200" cy="1435100"/>
          </a:xfrm>
          <a:prstGeom prst="rect">
            <a:avLst/>
          </a:prstGeom>
          <a:noFill/>
          <a:ln w="50800">
            <a:solidFill>
              <a:srgbClr val="C8352B">
                <a:alpha val="88000"/>
              </a:srgbClr>
            </a:solidFill>
            <a:prstDash val="solid"/>
          </a:ln>
        </p:spPr>
        <p:txBody>
          <a:bodyPr wrap="square" lIns="132461" tIns="76200" rIns="132461" bIns="50800" rtlCol="0" anchor="t">
            <a:normAutofit/>
          </a:bodyPr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spc="400" kern="0" dirty="0">
                <a:solidFill>
                  <a:srgbClr val="E5503F">
                    <a:alpha val="88000"/>
                  </a:srgbClr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DECLASSIFIED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발표 템플릿">
  <a:themeElements>
    <a:clrScheme name="발표 템플릿">
      <a:dk1>
        <a:srgbClr val="16130F"/>
      </a:dk1>
      <a:lt1>
        <a:srgbClr val="E9E1CF"/>
      </a:lt1>
      <a:dk2>
        <a:srgbClr val="2B2822"/>
      </a:dk2>
      <a:lt2>
        <a:srgbClr val="B4AE9F"/>
      </a:lt2>
      <a:accent1>
        <a:srgbClr val="E5503F"/>
      </a:accent1>
      <a:accent2>
        <a:srgbClr val="C8352B"/>
      </a:accent2>
      <a:accent3>
        <a:srgbClr val="9E271F"/>
      </a:accent3>
      <a:accent4>
        <a:srgbClr val="A99F8A"/>
      </a:accent4>
      <a:accent5>
        <a:srgbClr val="8A8170"/>
      </a:accent5>
      <a:accent6>
        <a:srgbClr val="9AA0A6"/>
      </a:accent6>
      <a:hlink>
        <a:srgbClr val="0563C1"/>
      </a:hlink>
      <a:folHlink>
        <a:srgbClr val="954F72"/>
      </a:folHlink>
    </a:clrScheme>
    <a:fontScheme name="발표 템플릿">
      <a:majorFont>
        <a:latin typeface="Nanum Gothic Coding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ial Elit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발표 템플릿</dc:title>
  <dc:subject/>
  <dc:creator/>
  <cp:lastModifiedBy/>
  <cp:revision>1</cp:revision>
  <dcterms:created xsi:type="dcterms:W3CDTF">2026-10-11T10:22:16Z</dcterms:created>
  <dcterms:modified xsi:type="dcterms:W3CDTF">2026-10-11T10:22:16Z</dcterms:modified>
</cp:coreProperties>
</file>